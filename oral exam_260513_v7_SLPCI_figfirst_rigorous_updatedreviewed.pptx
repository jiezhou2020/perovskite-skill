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7" r:id="rId2"/>
    <p:sldId id="302" r:id="rId3"/>
    <p:sldId id="317" r:id="rId4"/>
    <p:sldId id="308" r:id="rId5"/>
    <p:sldId id="315" r:id="rId6"/>
    <p:sldId id="309" r:id="rId7"/>
    <p:sldId id="310" r:id="rId8"/>
    <p:sldId id="311" r:id="rId9"/>
    <p:sldId id="320" r:id="rId10"/>
    <p:sldId id="313" r:id="rId11"/>
    <p:sldId id="321" r:id="rId12"/>
    <p:sldId id="316" r:id="rId13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32" userDrawn="1">
          <p15:clr>
            <a:srgbClr val="A4A3A4"/>
          </p15:clr>
        </p15:guide>
        <p15:guide id="2" pos="3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7DA2"/>
    <a:srgbClr val="FCE6D5"/>
    <a:srgbClr val="F2F2F2"/>
    <a:srgbClr val="911523"/>
    <a:srgbClr val="9EA4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4" autoAdjust="0"/>
    <p:restoredTop sz="94660"/>
  </p:normalViewPr>
  <p:slideViewPr>
    <p:cSldViewPr snapToGrid="0" showGuides="1">
      <p:cViewPr varScale="1">
        <p:scale>
          <a:sx n="50" d="100"/>
          <a:sy n="50" d="100"/>
        </p:scale>
        <p:origin x="2566" y="63"/>
      </p:cViewPr>
      <p:guideLst>
        <p:guide orient="horz" pos="2332"/>
        <p:guide pos="38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623BCC9-5644-F580-E27F-9D28B02079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EFD755-9259-F1CF-86B5-060779D8A97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4F1B5F-5E82-45F6-95B3-5E3D818CD07A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6683742-6246-47F5-E4C5-C0A2632DCF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80B2279-9445-B6FC-23ED-3C65E482E6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6F8098-28C7-E7B0-8E72-C30CB852712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6415C1-B382-4E3F-7D73-8FE9FA5A2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82631-5DC8-4A69-9416-DB23D26025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/>
        </p:nvCxnSpPr>
        <p:spPr>
          <a:xfrm>
            <a:off x="-81" y="695276"/>
            <a:ext cx="12204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1056620" y="-6985"/>
            <a:ext cx="468000" cy="46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0" y="695325"/>
            <a:ext cx="3097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rgbClr val="333333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Research Proposal</a:t>
            </a:r>
            <a:r>
              <a:rPr lang="zh-CN" altLang="en-US" sz="2400">
                <a:solidFill>
                  <a:srgbClr val="333333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9725" y="2891790"/>
            <a:ext cx="11553825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sz="2800" b="1">
                <a:latin typeface="Calibri"/>
              </a:rPr>
              <a:t>State-Locked Multi-Mechanism Decoupling of Photoinduced Phase Segregation in Wide-Bandgap Perovskites</a:t>
            </a:r>
            <a:endParaRPr lang="en-US" altLang="zh-CN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71860" y="5242560"/>
            <a:ext cx="1120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>
                <a:solidFill>
                  <a:srgbClr val="333333"/>
                </a:solidFill>
                <a:latin typeface="Calibri"/>
              </a:rPr>
              <a:t>Lin Weiye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9636125" y="5565140"/>
            <a:ext cx="256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>
                <a:solidFill>
                  <a:srgbClr val="333333"/>
                </a:solidFill>
                <a:latin typeface="Calibri"/>
              </a:rPr>
              <a:t>Examination No.287048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9636125" y="5859780"/>
            <a:ext cx="256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600">
                <a:latin typeface="Calibri"/>
              </a:rPr>
              <a:t>2026/05/13</a:t>
            </a:r>
            <a:endParaRPr lang="en-US" altLang="zh-CN"/>
          </a:p>
        </p:txBody>
      </p:sp>
      <p:sp>
        <p:nvSpPr>
          <p:cNvPr id="11" name="TextBox 10"/>
          <p:cNvSpPr txBox="1"/>
          <p:nvPr/>
        </p:nvSpPr>
        <p:spPr>
          <a:xfrm>
            <a:off x="11201400" y="6565392"/>
            <a:ext cx="594360" cy="18288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r"/>
            <a:r>
              <a:rPr sz="850" b="0" i="0">
                <a:solidFill>
                  <a:srgbClr val="666666"/>
                </a:solidFill>
                <a:latin typeface="Calibri"/>
              </a:rPr>
              <a:t>1/12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2FD9E5-AF60-B44C-A2FE-6AE78B894A36}"/>
              </a:ext>
            </a:extLst>
          </p:cNvPr>
          <p:cNvSpPr txBox="1"/>
          <p:nvPr/>
        </p:nvSpPr>
        <p:spPr>
          <a:xfrm>
            <a:off x="2245398" y="1307881"/>
            <a:ext cx="9253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highlight>
                  <a:srgbClr val="FFFF00"/>
                </a:highlight>
              </a:rPr>
              <a:t>整篇</a:t>
            </a:r>
            <a:r>
              <a:rPr kumimoji="1" lang="en-US" altLang="zh-CN" b="1" dirty="0">
                <a:highlight>
                  <a:srgbClr val="FFFF00"/>
                </a:highlight>
              </a:rPr>
              <a:t>PPT</a:t>
            </a:r>
            <a:r>
              <a:rPr kumimoji="1" lang="zh-CN" altLang="en-US" b="1" dirty="0">
                <a:highlight>
                  <a:srgbClr val="FFFF00"/>
                </a:highlight>
              </a:rPr>
              <a:t>的风格、配色要保持一致性</a:t>
            </a:r>
            <a:endParaRPr kumimoji="1" lang="en-US" altLang="zh-CN" b="1" dirty="0">
              <a:highlight>
                <a:srgbClr val="FFFF00"/>
              </a:highlight>
            </a:endParaRPr>
          </a:p>
          <a:p>
            <a:r>
              <a:rPr kumimoji="1" lang="zh-CN" altLang="en-US" b="1" dirty="0">
                <a:highlight>
                  <a:srgbClr val="FFFF00"/>
                </a:highlight>
              </a:rPr>
              <a:t>文字字体大小控制在</a:t>
            </a:r>
            <a:r>
              <a:rPr kumimoji="1" lang="en-US" altLang="zh-CN" b="1" dirty="0">
                <a:highlight>
                  <a:srgbClr val="FFFF00"/>
                </a:highlight>
              </a:rPr>
              <a:t>12-16</a:t>
            </a:r>
            <a:r>
              <a:rPr kumimoji="1" lang="zh-CN" altLang="en-US" b="1" dirty="0">
                <a:highlight>
                  <a:srgbClr val="FFFF00"/>
                </a:highlight>
              </a:rPr>
              <a:t>之间</a:t>
            </a:r>
            <a:endParaRPr kumimoji="1" lang="ja-JP" altLang="en-US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11155680" cy="38404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A4D7E"/>
                </a:solidFill>
                <a:latin typeface="Calibri"/>
              </a:rPr>
              <a:t>1. Background of Past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547104"/>
            <a:ext cx="68580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6666"/>
                </a:solidFill>
                <a:latin typeface="Calibri"/>
              </a:rPr>
              <a:t>2/12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66928"/>
            <a:ext cx="1078992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A background bridging perovskite processing, characterization hardware, and PV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2743200" cy="20116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050" b="1">
                <a:solidFill>
                  <a:srgbClr val="1A4D7E"/>
                </a:solidFill>
                <a:latin typeface="Calibri"/>
              </a:rPr>
              <a:t>2021.04–2023.03  |  Waseda University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2834640" cy="224028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25146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50" b="1">
                <a:solidFill>
                  <a:srgbClr val="1A4D7E"/>
                </a:solidFill>
                <a:latin typeface="Calibri"/>
              </a:rPr>
              <a:t>Master research: EIP deposition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37360"/>
            <a:ext cx="2514600" cy="11430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200"/>
              </a:spcAft>
              <a:defRPr sz="1019">
                <a:solidFill>
                  <a:srgbClr val="333333"/>
                </a:solidFill>
                <a:latin typeface="Calibri"/>
              </a:defRPr>
            </a:pPr>
            <a:r>
              <a:rPr dirty="0"/>
              <a:t>• Large-area perovskite deposition</a:t>
            </a:r>
          </a:p>
          <a:p>
            <a:pPr>
              <a:spcAft>
                <a:spcPts val="200"/>
              </a:spcAft>
              <a:defRPr sz="1019">
                <a:solidFill>
                  <a:srgbClr val="333333"/>
                </a:solidFill>
                <a:latin typeface="Calibri"/>
              </a:defRPr>
            </a:pPr>
            <a:r>
              <a:rPr dirty="0"/>
              <a:t>• Electrostatic inkjet printing apparatus</a:t>
            </a:r>
          </a:p>
          <a:p>
            <a:pPr>
              <a:spcAft>
                <a:spcPts val="200"/>
              </a:spcAft>
              <a:defRPr sz="1019">
                <a:solidFill>
                  <a:srgbClr val="333333"/>
                </a:solidFill>
                <a:latin typeface="Calibri"/>
              </a:defRPr>
            </a:pPr>
            <a:r>
              <a:rPr dirty="0"/>
              <a:t>• Taylor-cone / Coulomb-fission process control</a:t>
            </a:r>
          </a:p>
          <a:p>
            <a:pPr>
              <a:spcAft>
                <a:spcPts val="200"/>
              </a:spcAft>
              <a:defRPr sz="1019">
                <a:solidFill>
                  <a:srgbClr val="333333"/>
                </a:solidFill>
                <a:latin typeface="Calibri"/>
              </a:defRPr>
            </a:pPr>
            <a:r>
              <a:rPr dirty="0"/>
              <a:t>• Solvent engineering and film characterization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990088"/>
            <a:ext cx="25146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80" b="0">
                <a:solidFill>
                  <a:srgbClr val="333333"/>
                </a:solidFill>
                <a:latin typeface="Calibri"/>
              </a:rPr>
              <a:t>Output: master thesis, review paper, CSJ Tokyo 2023 presentation.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767328"/>
            <a:ext cx="2743200" cy="20116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050" b="1">
                <a:solidFill>
                  <a:srgbClr val="2D6A4F"/>
                </a:solidFill>
                <a:latin typeface="Calibri"/>
              </a:rPr>
              <a:t>2023.04–present  |  Industry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41648"/>
            <a:ext cx="2834640" cy="141732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187952"/>
            <a:ext cx="1280160" cy="20116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150" b="1">
                <a:solidFill>
                  <a:srgbClr val="2D6A4F"/>
                </a:solidFill>
                <a:latin typeface="Calibri"/>
              </a:rPr>
              <a:t>Huawei 2012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62272"/>
            <a:ext cx="25146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80" b="0">
                <a:solidFill>
                  <a:srgbClr val="333333"/>
                </a:solidFill>
                <a:latin typeface="Calibri"/>
              </a:rPr>
              <a:t>XPS analyzer R&amp;D; hardware integration; assembly and alignment.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64608"/>
            <a:ext cx="1280160" cy="20116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150" b="1">
                <a:solidFill>
                  <a:srgbClr val="2D6A4F"/>
                </a:solidFill>
                <a:latin typeface="Calibri"/>
              </a:rPr>
              <a:t>LONGi Solar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25146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80" b="0">
                <a:solidFill>
                  <a:srgbClr val="333333"/>
                </a:solidFill>
                <a:latin typeface="Calibri"/>
              </a:rPr>
              <a:t>Utility-scale PV plant design; yield modelling; stability and bankability.</a:t>
            </a:r>
          </a:p>
        </p:txBody>
      </p:sp>
      <p:pic>
        <p:nvPicPr>
          <p:cNvPr id="16" name="Picture 15" descr="s2_e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932688"/>
            <a:ext cx="8138160" cy="1965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20440" y="2926080"/>
            <a:ext cx="786384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Calibri"/>
              </a:rPr>
              <a:t>Fig. 1  Electrostatic inkjet printing apparatus: original setup and optimized process-control modules.</a:t>
            </a:r>
          </a:p>
        </p:txBody>
      </p:sp>
      <p:pic>
        <p:nvPicPr>
          <p:cNvPr id="18" name="Picture 17" descr="s2_fi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218688"/>
            <a:ext cx="8138160" cy="1737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20440" y="4992624"/>
            <a:ext cx="786384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Calibri"/>
              </a:rPr>
              <a:t>Fig. 2  Solvent engineering, XRD comparison and cross-section SEM of perovskite films.</a:t>
            </a:r>
          </a:p>
        </p:txBody>
      </p:sp>
      <p:pic>
        <p:nvPicPr>
          <p:cNvPr id="20" name="Picture 19" descr="s2_indus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5285232"/>
            <a:ext cx="8138160" cy="10515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02920" y="6382512"/>
            <a:ext cx="10789920" cy="310896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6455664"/>
            <a:ext cx="10241280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1A4D7E"/>
                </a:solidFill>
                <a:latin typeface="Calibri"/>
              </a:rPr>
              <a:t>Takeaway: the proposal connects process control, measurement artifacts, and device-relevant stability.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B518284-737C-DA36-1460-1500316A560F}"/>
              </a:ext>
            </a:extLst>
          </p:cNvPr>
          <p:cNvSpPr txBox="1"/>
          <p:nvPr/>
        </p:nvSpPr>
        <p:spPr>
          <a:xfrm>
            <a:off x="5186149" y="1234440"/>
            <a:ext cx="5240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highlight>
                  <a:srgbClr val="FFFF00"/>
                </a:highlight>
              </a:rPr>
              <a:t>预留</a:t>
            </a:r>
            <a:r>
              <a:rPr kumimoji="1" lang="en-US" altLang="zh-CN" b="1" dirty="0">
                <a:highlight>
                  <a:srgbClr val="FFFF00"/>
                </a:highlight>
              </a:rPr>
              <a:t>Fig1</a:t>
            </a:r>
            <a:r>
              <a:rPr kumimoji="1" lang="zh-CN" altLang="en-US" b="1" dirty="0">
                <a:highlight>
                  <a:srgbClr val="FFFF00"/>
                </a:highlight>
              </a:rPr>
              <a:t>这些文本描述和格式，图片可以去除掉，我后续手动添加</a:t>
            </a:r>
            <a:endParaRPr kumimoji="1" lang="ja-JP" altLang="en-US" b="1" dirty="0">
              <a:highlight>
                <a:srgbClr val="FFFF00"/>
              </a:highlight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418F9AD-6288-51E5-9289-488C25FB07F0}"/>
              </a:ext>
            </a:extLst>
          </p:cNvPr>
          <p:cNvSpPr txBox="1"/>
          <p:nvPr/>
        </p:nvSpPr>
        <p:spPr>
          <a:xfrm>
            <a:off x="4923429" y="4065954"/>
            <a:ext cx="5240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highlight>
                  <a:srgbClr val="FFFF00"/>
                </a:highlight>
              </a:rPr>
              <a:t>预留</a:t>
            </a:r>
            <a:r>
              <a:rPr kumimoji="1" lang="en-US" altLang="zh-CN" b="1" dirty="0">
                <a:highlight>
                  <a:srgbClr val="FFFF00"/>
                </a:highlight>
              </a:rPr>
              <a:t>Fig2</a:t>
            </a:r>
            <a:r>
              <a:rPr kumimoji="1" lang="zh-CN" altLang="en-US" b="1" dirty="0">
                <a:highlight>
                  <a:srgbClr val="FFFF00"/>
                </a:highlight>
              </a:rPr>
              <a:t>这些文本描述和格式，图片可以去除掉，我后续手动添加</a:t>
            </a:r>
            <a:endParaRPr kumimoji="1" lang="ja-JP" altLang="en-US" b="1" dirty="0">
              <a:highlight>
                <a:srgbClr val="FFFF00"/>
              </a:highlight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3F6CE4B-5F9C-4EFD-F486-609AE7964C05}"/>
              </a:ext>
            </a:extLst>
          </p:cNvPr>
          <p:cNvSpPr txBox="1"/>
          <p:nvPr/>
        </p:nvSpPr>
        <p:spPr>
          <a:xfrm>
            <a:off x="3847531" y="5556426"/>
            <a:ext cx="5240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highlight>
                  <a:srgbClr val="FFFF00"/>
                </a:highlight>
              </a:rPr>
              <a:t>预留</a:t>
            </a:r>
            <a:r>
              <a:rPr kumimoji="1" lang="en-US" altLang="zh-CN" b="1" dirty="0">
                <a:highlight>
                  <a:srgbClr val="FFFF00"/>
                </a:highlight>
              </a:rPr>
              <a:t>Fig3</a:t>
            </a:r>
            <a:r>
              <a:rPr kumimoji="1" lang="zh-CN" altLang="en-US" b="1" dirty="0">
                <a:highlight>
                  <a:srgbClr val="FFFF00"/>
                </a:highlight>
              </a:rPr>
              <a:t>这些文本描述和格式，图片可以去除掉，我后续手动添加</a:t>
            </a:r>
            <a:endParaRPr kumimoji="1" lang="ja-JP" altLang="en-US" b="1" dirty="0">
              <a:highlight>
                <a:srgbClr val="FFFF00"/>
              </a:highlight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693FF53-3C2F-A24F-3EE2-24B1D816DB90}"/>
              </a:ext>
            </a:extLst>
          </p:cNvPr>
          <p:cNvSpPr txBox="1"/>
          <p:nvPr/>
        </p:nvSpPr>
        <p:spPr>
          <a:xfrm>
            <a:off x="109182" y="2354580"/>
            <a:ext cx="22655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highlight>
                  <a:srgbClr val="FFFF00"/>
                </a:highlight>
              </a:rPr>
              <a:t>文本框字体要能够自动换行，</a:t>
            </a:r>
            <a:endParaRPr kumimoji="1" lang="en-US" altLang="zh-CN" b="1" dirty="0">
              <a:highlight>
                <a:srgbClr val="FFFF00"/>
              </a:highlight>
            </a:endParaRPr>
          </a:p>
          <a:p>
            <a:r>
              <a:rPr kumimoji="1" lang="zh-CN" altLang="en-US" b="1" dirty="0">
                <a:highlight>
                  <a:srgbClr val="FFFF00"/>
                </a:highlight>
              </a:rPr>
              <a:t>描述内容参照原来的</a:t>
            </a:r>
            <a:r>
              <a:rPr kumimoji="1" lang="en-US" altLang="zh-CN" b="1" dirty="0">
                <a:highlight>
                  <a:srgbClr val="FFFF00"/>
                </a:highlight>
              </a:rPr>
              <a:t>PPT</a:t>
            </a:r>
            <a:r>
              <a:rPr kumimoji="1" lang="zh-CN" altLang="en-US" b="1" dirty="0">
                <a:highlight>
                  <a:srgbClr val="FFFF00"/>
                </a:highlight>
              </a:rPr>
              <a:t>内容进行修改优化完善，注意排版不要文字重叠或者形成遮挡</a:t>
            </a:r>
            <a:endParaRPr kumimoji="1" lang="ja-JP" altLang="en-US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11155680" cy="38404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A4D7E"/>
                </a:solidFill>
                <a:latin typeface="Calibri"/>
              </a:rPr>
              <a:t>2. Perovskite solar cells: structure, operation, and tandem relevance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547104"/>
            <a:ext cx="68580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6666"/>
                </a:solidFill>
                <a:latin typeface="Calibri"/>
              </a:rPr>
              <a:t>3/12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66928"/>
            <a:ext cx="1078992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The same material stack must absorb light, separate carriers, and maintain a WBG suitable for tandem top cells.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4572000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4206240" cy="2670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3931920"/>
            <a:ext cx="388620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A4D7E"/>
                </a:solidFill>
                <a:latin typeface="Calibri"/>
              </a:rPr>
              <a:t>Device architectures and tandem bandgap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960120"/>
            <a:ext cx="6263640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143000"/>
            <a:ext cx="589788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06440" y="3154680"/>
            <a:ext cx="530352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A4D7E"/>
                </a:solidFill>
                <a:latin typeface="Calibri"/>
              </a:rPr>
              <a:t>Energy alignment and band bending govern selective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617720"/>
            <a:ext cx="3429000" cy="96012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828032"/>
            <a:ext cx="32004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D62828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4754880"/>
            <a:ext cx="2468880" cy="20116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50" b="1">
                <a:solidFill>
                  <a:srgbClr val="1A4D7E"/>
                </a:solidFill>
                <a:latin typeface="Calibri"/>
              </a:rPr>
              <a:t>Absorption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5047488"/>
            <a:ext cx="260604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019" b="0" dirty="0">
                <a:solidFill>
                  <a:srgbClr val="333333"/>
                </a:solidFill>
                <a:latin typeface="Calibri"/>
              </a:rPr>
              <a:t>Perovskite absorbs photons and generates electron–hole pairs.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4617720"/>
            <a:ext cx="3429000" cy="96012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4828032"/>
            <a:ext cx="32004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D62828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4754880"/>
            <a:ext cx="2468880" cy="20116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50" b="1">
                <a:solidFill>
                  <a:srgbClr val="1A4D7E"/>
                </a:solidFill>
                <a:latin typeface="Calibri"/>
              </a:rPr>
              <a:t>Separation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5047488"/>
            <a:ext cx="260604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019" b="0">
                <a:solidFill>
                  <a:srgbClr val="333333"/>
                </a:solidFill>
                <a:latin typeface="Calibri"/>
              </a:rPr>
              <a:t>Built-in fields and transport layers separate carriers before recombination.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4617720"/>
            <a:ext cx="3429000" cy="96012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4828032"/>
            <a:ext cx="32004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D62828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4754880"/>
            <a:ext cx="2468880" cy="20116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50" b="1">
                <a:solidFill>
                  <a:srgbClr val="1A4D7E"/>
                </a:solidFill>
                <a:latin typeface="Calibri"/>
              </a:rPr>
              <a:t>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5047488"/>
            <a:ext cx="260604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019" b="0">
                <a:solidFill>
                  <a:srgbClr val="333333"/>
                </a:solidFill>
                <a:latin typeface="Calibri"/>
              </a:rPr>
              <a:t>Band offsets guide electrons to ETL and holes to HTL for power output.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5989320"/>
            <a:ext cx="10058400" cy="384048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6089904"/>
            <a:ext cx="950976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50" b="1">
                <a:solidFill>
                  <a:srgbClr val="1A4D7E"/>
                </a:solidFill>
                <a:latin typeface="Calibri"/>
              </a:rPr>
              <a:t>Tandem relevance: top cells require a stable 1.65–1.80 eV wide-bandgap absorber, where mixed-halide PIPS becomes critical.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DA3CEFB-A817-F3D3-73A1-6F365FECAEE2}"/>
              </a:ext>
            </a:extLst>
          </p:cNvPr>
          <p:cNvSpPr txBox="1"/>
          <p:nvPr/>
        </p:nvSpPr>
        <p:spPr>
          <a:xfrm>
            <a:off x="657139" y="3866233"/>
            <a:ext cx="5240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highlight>
                  <a:srgbClr val="FFFF00"/>
                </a:highlight>
              </a:rPr>
              <a:t>预留</a:t>
            </a:r>
            <a:r>
              <a:rPr kumimoji="1" lang="en-US" altLang="zh-CN" b="1" dirty="0">
                <a:highlight>
                  <a:srgbClr val="FFFF00"/>
                </a:highlight>
              </a:rPr>
              <a:t>Fig.</a:t>
            </a:r>
            <a:r>
              <a:rPr kumimoji="1" lang="zh-CN" altLang="en-US" b="1" dirty="0">
                <a:highlight>
                  <a:srgbClr val="FFFF00"/>
                </a:highlight>
              </a:rPr>
              <a:t>的文本格式，这个</a:t>
            </a:r>
            <a:r>
              <a:rPr kumimoji="1" lang="en-US" altLang="zh-CN" b="1" dirty="0">
                <a:highlight>
                  <a:srgbClr val="FFFF00"/>
                </a:highlight>
              </a:rPr>
              <a:t>Fig</a:t>
            </a:r>
            <a:r>
              <a:rPr kumimoji="1" lang="zh-CN" altLang="en-US" b="1" dirty="0">
                <a:highlight>
                  <a:srgbClr val="FFFF00"/>
                </a:highlight>
              </a:rPr>
              <a:t>的编号是</a:t>
            </a:r>
            <a:r>
              <a:rPr kumimoji="1" lang="en-US" altLang="zh-CN" b="1" dirty="0">
                <a:highlight>
                  <a:srgbClr val="FFFF00"/>
                </a:highlight>
              </a:rPr>
              <a:t>4</a:t>
            </a:r>
            <a:r>
              <a:rPr kumimoji="1" lang="zh-CN" altLang="en-US" b="1" dirty="0">
                <a:highlight>
                  <a:srgbClr val="FFFF00"/>
                </a:highlight>
              </a:rPr>
              <a:t>了，</a:t>
            </a:r>
            <a:r>
              <a:rPr kumimoji="1" lang="en-US" altLang="zh-CN" b="1" dirty="0">
                <a:highlight>
                  <a:srgbClr val="FFFF00"/>
                </a:highlight>
              </a:rPr>
              <a:t>Fig</a:t>
            </a:r>
            <a:r>
              <a:rPr kumimoji="1" lang="zh-CN" altLang="en-US" b="1" dirty="0">
                <a:highlight>
                  <a:srgbClr val="FFFF00"/>
                </a:highlight>
              </a:rPr>
              <a:t>描述的文本格式参照论文中的格式，但是字体格式统一为</a:t>
            </a:r>
            <a:r>
              <a:rPr kumimoji="1" lang="en-US" altLang="zh-CN" b="1" dirty="0">
                <a:highlight>
                  <a:srgbClr val="FFFF00"/>
                </a:highlight>
              </a:rPr>
              <a:t>12-16</a:t>
            </a:r>
            <a:r>
              <a:rPr kumimoji="1" lang="zh-CN" altLang="en-US" b="1" dirty="0">
                <a:highlight>
                  <a:srgbClr val="FFFF00"/>
                </a:highlight>
              </a:rPr>
              <a:t>之间；然后图可以删了我自己手动传</a:t>
            </a:r>
            <a:endParaRPr kumimoji="1" lang="en-US" altLang="zh-CN" b="1" dirty="0">
              <a:highlight>
                <a:srgbClr val="FFFF00"/>
              </a:highlight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2461515-BDFE-323F-4891-0664F26EC52F}"/>
              </a:ext>
            </a:extLst>
          </p:cNvPr>
          <p:cNvSpPr txBox="1"/>
          <p:nvPr/>
        </p:nvSpPr>
        <p:spPr>
          <a:xfrm>
            <a:off x="6417859" y="3457236"/>
            <a:ext cx="5240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highlight>
                  <a:srgbClr val="FFFF00"/>
                </a:highlight>
              </a:rPr>
              <a:t>预留</a:t>
            </a:r>
            <a:r>
              <a:rPr kumimoji="1" lang="en-US" altLang="zh-CN" b="1" dirty="0">
                <a:highlight>
                  <a:srgbClr val="FFFF00"/>
                </a:highlight>
              </a:rPr>
              <a:t>Fig.</a:t>
            </a:r>
            <a:r>
              <a:rPr kumimoji="1" lang="zh-CN" altLang="en-US" b="1" dirty="0">
                <a:highlight>
                  <a:srgbClr val="FFFF00"/>
                </a:highlight>
              </a:rPr>
              <a:t>的文本格式，这个</a:t>
            </a:r>
            <a:r>
              <a:rPr kumimoji="1" lang="en-US" altLang="zh-CN" b="1" dirty="0">
                <a:highlight>
                  <a:srgbClr val="FFFF00"/>
                </a:highlight>
              </a:rPr>
              <a:t>Fig</a:t>
            </a:r>
            <a:r>
              <a:rPr kumimoji="1" lang="zh-CN" altLang="en-US" b="1" dirty="0">
                <a:highlight>
                  <a:srgbClr val="FFFF00"/>
                </a:highlight>
              </a:rPr>
              <a:t>的编号是</a:t>
            </a:r>
            <a:r>
              <a:rPr kumimoji="1" lang="en-US" altLang="zh-CN" b="1" dirty="0">
                <a:highlight>
                  <a:srgbClr val="FFFF00"/>
                </a:highlight>
              </a:rPr>
              <a:t>4</a:t>
            </a:r>
            <a:r>
              <a:rPr kumimoji="1" lang="zh-CN" altLang="en-US" b="1" dirty="0">
                <a:highlight>
                  <a:srgbClr val="FFFF00"/>
                </a:highlight>
              </a:rPr>
              <a:t>了，</a:t>
            </a:r>
            <a:r>
              <a:rPr kumimoji="1" lang="en-US" altLang="zh-CN" b="1" dirty="0">
                <a:highlight>
                  <a:srgbClr val="FFFF00"/>
                </a:highlight>
              </a:rPr>
              <a:t>Fig</a:t>
            </a:r>
            <a:r>
              <a:rPr kumimoji="1" lang="zh-CN" altLang="en-US" b="1" dirty="0">
                <a:highlight>
                  <a:srgbClr val="FFFF00"/>
                </a:highlight>
              </a:rPr>
              <a:t>描述的文本格式参照论文中的格式，但是字体格式统一为</a:t>
            </a:r>
            <a:r>
              <a:rPr kumimoji="1" lang="en-US" altLang="zh-CN" b="1" dirty="0">
                <a:highlight>
                  <a:srgbClr val="FFFF00"/>
                </a:highlight>
              </a:rPr>
              <a:t>12-16</a:t>
            </a:r>
            <a:r>
              <a:rPr kumimoji="1" lang="zh-CN" altLang="en-US" b="1" dirty="0">
                <a:highlight>
                  <a:srgbClr val="FFFF00"/>
                </a:highlight>
              </a:rPr>
              <a:t>之间；然后图可以删了我自己手动传</a:t>
            </a:r>
            <a:endParaRPr kumimoji="1" lang="en-US" altLang="zh-CN" b="1" dirty="0">
              <a:highlight>
                <a:srgbClr val="FFFF00"/>
              </a:highlight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05F3FD9-833D-67C5-0336-8BC0CEFD510B}"/>
              </a:ext>
            </a:extLst>
          </p:cNvPr>
          <p:cNvSpPr txBox="1"/>
          <p:nvPr/>
        </p:nvSpPr>
        <p:spPr>
          <a:xfrm>
            <a:off x="657138" y="5411488"/>
            <a:ext cx="11214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highlight>
                  <a:srgbClr val="FFFF00"/>
                </a:highlight>
              </a:rPr>
              <a:t>保留原来</a:t>
            </a:r>
            <a:r>
              <a:rPr kumimoji="1" lang="en-US" altLang="zh-CN" b="1" dirty="0">
                <a:highlight>
                  <a:srgbClr val="FFFF00"/>
                </a:highlight>
              </a:rPr>
              <a:t>PPT</a:t>
            </a:r>
            <a:r>
              <a:rPr kumimoji="1" lang="zh-CN" altLang="en-US" b="1" dirty="0">
                <a:highlight>
                  <a:srgbClr val="FFFF00"/>
                </a:highlight>
              </a:rPr>
              <a:t>里面介绍的内容，包括隔层的作用，以及钙钛矿太阳能的工作原理，你可以做精简，但不要删这么多，这一页主要要重新思考内容怎么填</a:t>
            </a:r>
            <a:endParaRPr kumimoji="1" lang="en-US" altLang="zh-CN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28016"/>
            <a:ext cx="11155680" cy="384048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2200" b="1" i="0">
                <a:solidFill>
                  <a:srgbClr val="1A4D7E"/>
                </a:solidFill>
                <a:latin typeface="Calibri"/>
              </a:rPr>
              <a:t>3. Perovskite solar cells: three coupled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155680" cy="310896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Calibri"/>
              </a:rPr>
              <a:t>Commercialization is constrained by stability, scalable manufacturing, and the efficiency ceiling of single-junction devices.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65392"/>
            <a:ext cx="594360" cy="18288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r"/>
            <a:r>
              <a:rPr sz="850" b="0" i="0">
                <a:solidFill>
                  <a:srgbClr val="666666"/>
                </a:solidFill>
                <a:latin typeface="Calibri"/>
              </a:rPr>
              <a:t>4/12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143000"/>
            <a:ext cx="352044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411480" cy="27432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2000" b="1" i="0">
                <a:solidFill>
                  <a:srgbClr val="1A4D7E"/>
                </a:solidFill>
                <a:latin typeface="Calibri"/>
              </a:rPr>
              <a:t>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344168"/>
            <a:ext cx="2560320" cy="22860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Stability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1874519"/>
            <a:ext cx="2880360" cy="1234440"/>
          </a:xfrm>
          <a:prstGeom prst="rect">
            <a:avLst/>
          </a:prstGeom>
          <a:solidFill>
            <a:srgbClr val="F2F5F8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2514600" cy="749808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ctr"/>
            <a:r>
              <a:rPr sz="1200" b="1" i="0">
                <a:solidFill>
                  <a:srgbClr val="D62828"/>
                </a:solidFill>
                <a:latin typeface="Calibri"/>
              </a:rPr>
              <a:t>ion migration
phase segregation
degradation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1097280" cy="16459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3035808" cy="658368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19" b="0" i="0">
                <a:solidFill>
                  <a:srgbClr val="333333"/>
                </a:solidFill>
                <a:latin typeface="Calibri"/>
              </a:rPr>
              <a:t>Humidity, heat, light and electric field drive ion migration, phase segregation and interfacial degradation.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1645920" cy="16459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RESEARCH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3035808" cy="53035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19" b="0" i="0">
                <a:solidFill>
                  <a:srgbClr val="333333"/>
                </a:solidFill>
                <a:latin typeface="Calibri"/>
              </a:rPr>
              <a:t>Target: quantify failure mechanisms under realistic stress.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23560"/>
            <a:ext cx="1371600" cy="22860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600" b="1" i="0">
                <a:solidFill>
                  <a:srgbClr val="1A4D7E"/>
                </a:solidFill>
                <a:latin typeface="Calibri"/>
              </a:rPr>
              <a:t>&gt;1000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" y="5733288"/>
            <a:ext cx="1600200" cy="16459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660" b="1" i="0">
                <a:solidFill>
                  <a:srgbClr val="666666"/>
                </a:solidFill>
                <a:latin typeface="Consolas"/>
              </a:rPr>
              <a:t>OPERATIONAL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143000"/>
            <a:ext cx="352044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62272" y="1298448"/>
            <a:ext cx="411480" cy="27432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2000" b="1" i="0">
                <a:solidFill>
                  <a:srgbClr val="1A4D7E"/>
                </a:solidFill>
                <a:latin typeface="Calibri"/>
              </a:rPr>
              <a:t>II.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344168"/>
            <a:ext cx="2560320" cy="22860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Upscaling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1874519"/>
            <a:ext cx="2880360" cy="1234440"/>
          </a:xfrm>
          <a:prstGeom prst="rect">
            <a:avLst/>
          </a:prstGeom>
          <a:solidFill>
            <a:srgbClr val="F2F5F8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0600" y="2148840"/>
            <a:ext cx="2514600" cy="566928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ctr"/>
            <a:r>
              <a:rPr sz="1300" b="1" i="0">
                <a:solidFill>
                  <a:srgbClr val="1A4D7E"/>
                </a:solidFill>
                <a:latin typeface="Calibri"/>
              </a:rPr>
              <a:t>cm² cell  →  m² module
area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429000"/>
            <a:ext cx="1097280" cy="16459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657600"/>
            <a:ext cx="3035808" cy="658368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19" b="0" i="0">
                <a:solidFill>
                  <a:srgbClr val="333333"/>
                </a:solidFill>
                <a:latin typeface="Calibri"/>
              </a:rPr>
              <a:t>Moving from cm² cells to m² modules changes crystallisation, wet-film uniformity and defect density.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617720"/>
            <a:ext cx="1645920" cy="16459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RESEARCH DIRECTION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846320"/>
            <a:ext cx="3035808" cy="53035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19" b="0" i="0">
                <a:solidFill>
                  <a:srgbClr val="333333"/>
                </a:solidFill>
                <a:latin typeface="Calibri"/>
              </a:rPr>
              <a:t>Target: transfer process control from spin coating to scalable coating.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5623560"/>
            <a:ext cx="1371600" cy="22860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600" b="1" i="0">
                <a:solidFill>
                  <a:srgbClr val="1A4D7E"/>
                </a:solidFill>
                <a:latin typeface="Calibri"/>
              </a:rPr>
              <a:t>≥800 cm²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5733288"/>
            <a:ext cx="1600200" cy="16459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660" b="1" i="0">
                <a:solidFill>
                  <a:srgbClr val="666666"/>
                </a:solidFill>
                <a:latin typeface="Consolas"/>
              </a:rPr>
              <a:t>MODULE SCALE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11312" y="1143000"/>
            <a:ext cx="352044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75904" y="1298448"/>
            <a:ext cx="411480" cy="27432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2000" b="1" i="0">
                <a:solidFill>
                  <a:srgbClr val="1A4D7E"/>
                </a:solidFill>
                <a:latin typeface="Calibri"/>
              </a:rPr>
              <a:t>III.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05672" y="1344168"/>
            <a:ext cx="2560320" cy="22860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Efficiency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31352" y="1874519"/>
            <a:ext cx="2880360" cy="1234440"/>
          </a:xfrm>
          <a:prstGeom prst="rect">
            <a:avLst/>
          </a:prstGeom>
          <a:solidFill>
            <a:srgbClr val="F2F5F8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14232" y="2148840"/>
            <a:ext cx="2514600" cy="566928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ctr"/>
            <a:r>
              <a:rPr sz="1300" b="1" i="0">
                <a:solidFill>
                  <a:srgbClr val="2D6A4F"/>
                </a:solidFill>
                <a:latin typeface="Calibri"/>
              </a:rPr>
              <a:t>single junction
→ tandem route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3429000"/>
            <a:ext cx="1097280" cy="16459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PROBLEM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7344" y="3657600"/>
            <a:ext cx="3035808" cy="658368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19" b="0" i="0">
                <a:solidFill>
                  <a:srgbClr val="333333"/>
                </a:solidFill>
                <a:latin typeface="Calibri"/>
              </a:rPr>
              <a:t>Single-junction PSCs approach their practical ceiling; WBG top cells are needed for tandem gains.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4617720"/>
            <a:ext cx="1645920" cy="16459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RESEARCH DIRECTION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344" y="4846320"/>
            <a:ext cx="3035808" cy="53035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19" b="0" i="0">
                <a:solidFill>
                  <a:srgbClr val="333333"/>
                </a:solidFill>
                <a:latin typeface="Calibri"/>
              </a:rPr>
              <a:t>Target: suppress WBG voltage loss and enable stable tandem operation.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5623560"/>
            <a:ext cx="1371600" cy="22860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600" b="1" i="0">
                <a:solidFill>
                  <a:srgbClr val="1A4D7E"/>
                </a:solidFill>
                <a:latin typeface="Calibri"/>
              </a:rPr>
              <a:t>1.65–1.80 eV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65792" y="5733288"/>
            <a:ext cx="1600200" cy="16459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660" b="1" i="0">
                <a:solidFill>
                  <a:srgbClr val="666666"/>
                </a:solidFill>
                <a:latin typeface="Consolas"/>
              </a:rPr>
              <a:t>WBG TOP CELL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355080"/>
            <a:ext cx="10515600" cy="201168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ctr"/>
            <a:r>
              <a:rPr sz="1100" b="1" i="0">
                <a:solidFill>
                  <a:srgbClr val="D62828"/>
                </a:solidFill>
                <a:latin typeface="Calibri"/>
              </a:rPr>
              <a:t>This proposal focuses on the stability–efficiency intersection: light-induced phase segregation in WBG absorbers.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2ECE3AF-DC27-AAD7-AA26-110FE62A767E}"/>
              </a:ext>
            </a:extLst>
          </p:cNvPr>
          <p:cNvSpPr txBox="1"/>
          <p:nvPr/>
        </p:nvSpPr>
        <p:spPr>
          <a:xfrm>
            <a:off x="657139" y="3866233"/>
            <a:ext cx="9181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highlight>
                  <a:srgbClr val="FFFF00"/>
                </a:highlight>
              </a:rPr>
              <a:t>图片预留位置可以适当方法，每个插图都应该预留</a:t>
            </a:r>
            <a:r>
              <a:rPr kumimoji="1" lang="en-US" altLang="zh-CN" b="1" dirty="0">
                <a:highlight>
                  <a:srgbClr val="FFFF00"/>
                </a:highlight>
              </a:rPr>
              <a:t>Fig</a:t>
            </a:r>
            <a:r>
              <a:rPr kumimoji="1" lang="zh-CN" altLang="en-US" b="1" dirty="0">
                <a:highlight>
                  <a:srgbClr val="FFFF00"/>
                </a:highlight>
              </a:rPr>
              <a:t>描述文本的位置，跟之前同理，</a:t>
            </a:r>
            <a:r>
              <a:rPr kumimoji="1" lang="en-US" altLang="zh-CN" b="1" dirty="0">
                <a:highlight>
                  <a:srgbClr val="FFFF00"/>
                </a:highlight>
              </a:rPr>
              <a:t>Fig</a:t>
            </a:r>
            <a:r>
              <a:rPr kumimoji="1" lang="zh-CN" altLang="en-US" b="1" dirty="0">
                <a:highlight>
                  <a:srgbClr val="FFFF00"/>
                </a:highlight>
              </a:rPr>
              <a:t>描述的格式应该参考论文里面的格式：这一页的核心是调整图片大小，适当放大</a:t>
            </a:r>
            <a:endParaRPr kumimoji="1" lang="en-US" altLang="zh-CN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Source Serif 4"/>
              </a:rPr>
              <a:t>6. Literature position: Fan 2025 freezes transient states, but does not close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6751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5A5A5A"/>
                </a:solidFill>
                <a:latin typeface="Inter"/>
              </a:rPr>
              <a:t>The proposal builds on cryo-capture, then adds same-ROI dynamics, direct Br chemistry, and device-relevant boundary conditions.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283464"/>
            <a:ext cx="7315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Inter"/>
              </a:rPr>
              <a:t>7/12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1307592"/>
            <a:ext cx="10104120" cy="0"/>
          </a:xfrm>
          <a:prstGeom prst="line">
            <a:avLst/>
          </a:prstGeom>
          <a:ln w="1270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77240" y="11430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216152"/>
            <a:ext cx="109728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C00000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1581912"/>
            <a:ext cx="6949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Inter"/>
              </a:rPr>
              <a:t>Hoke
2015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9384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0" b="0" i="0">
                <a:solidFill>
                  <a:srgbClr val="5A5A5A"/>
                </a:solidFill>
                <a:latin typeface="Inter"/>
              </a:rPr>
              <a:t>PL red-shift
&amp; recovery</a:t>
            </a:r>
          </a:p>
        </p:txBody>
      </p:sp>
      <p:sp>
        <p:nvSpPr>
          <p:cNvPr id="11" name="Oval 10"/>
          <p:cNvSpPr/>
          <p:nvPr/>
        </p:nvSpPr>
        <p:spPr>
          <a:xfrm>
            <a:off x="2834640" y="11430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1216152"/>
            <a:ext cx="109728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C00000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581912"/>
            <a:ext cx="6949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Inter"/>
              </a:rPr>
              <a:t>Brivio
2016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29384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0" b="0" i="0">
                <a:solidFill>
                  <a:srgbClr val="5A5A5A"/>
                </a:solidFill>
                <a:latin typeface="Inter"/>
              </a:rPr>
              <a:t>thermodynamic
origin</a:t>
            </a:r>
          </a:p>
        </p:txBody>
      </p:sp>
      <p:sp>
        <p:nvSpPr>
          <p:cNvPr id="15" name="Oval 14"/>
          <p:cNvSpPr/>
          <p:nvPr/>
        </p:nvSpPr>
        <p:spPr>
          <a:xfrm>
            <a:off x="4892040" y="11430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01768" y="1216152"/>
            <a:ext cx="109728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C00000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1581912"/>
            <a:ext cx="6949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Inter"/>
              </a:rPr>
              <a:t>Bischak
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929384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0" b="0" i="0">
                <a:solidFill>
                  <a:srgbClr val="5A5A5A"/>
                </a:solidFill>
                <a:latin typeface="Inter"/>
              </a:rPr>
              <a:t>domain
formation</a:t>
            </a:r>
          </a:p>
        </p:txBody>
      </p:sp>
      <p:sp>
        <p:nvSpPr>
          <p:cNvPr id="19" name="Oval 18"/>
          <p:cNvSpPr/>
          <p:nvPr/>
        </p:nvSpPr>
        <p:spPr>
          <a:xfrm>
            <a:off x="6949440" y="11430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59168" y="1216152"/>
            <a:ext cx="109728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C00000"/>
                </a:solidFill>
                <a:latin typeface="Inter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1581912"/>
            <a:ext cx="6949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Inter"/>
              </a:rPr>
              <a:t>Chen
2021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929384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0" b="0" i="0">
                <a:solidFill>
                  <a:srgbClr val="5A5A5A"/>
                </a:solidFill>
                <a:latin typeface="Inter"/>
              </a:rPr>
              <a:t>unified
free energy</a:t>
            </a:r>
          </a:p>
        </p:txBody>
      </p:sp>
      <p:sp>
        <p:nvSpPr>
          <p:cNvPr id="23" name="Oval 22"/>
          <p:cNvSpPr/>
          <p:nvPr/>
        </p:nvSpPr>
        <p:spPr>
          <a:xfrm>
            <a:off x="9006840" y="11430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16567" y="1216152"/>
            <a:ext cx="109728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C00000"/>
                </a:solidFill>
                <a:latin typeface="Inter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1581912"/>
            <a:ext cx="6949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Inter"/>
              </a:rPr>
              <a:t>Peng
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1929384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0" b="0" i="0">
                <a:solidFill>
                  <a:srgbClr val="5A5A5A"/>
                </a:solidFill>
                <a:latin typeface="Inter"/>
              </a:rPr>
              <a:t>cryo-STEM-CL
time series</a:t>
            </a:r>
          </a:p>
        </p:txBody>
      </p:sp>
      <p:sp>
        <p:nvSpPr>
          <p:cNvPr id="27" name="Oval 26"/>
          <p:cNvSpPr/>
          <p:nvPr/>
        </p:nvSpPr>
        <p:spPr>
          <a:xfrm>
            <a:off x="11064240" y="1143000"/>
            <a:ext cx="329184" cy="329184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73967" y="1216152"/>
            <a:ext cx="109728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1581912"/>
            <a:ext cx="6949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Inter"/>
              </a:rPr>
              <a:t>Fan
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1929384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0" b="0" i="0">
                <a:solidFill>
                  <a:srgbClr val="5A5A5A"/>
                </a:solidFill>
                <a:latin typeface="Inter"/>
              </a:rPr>
              <a:t>plunge-freeze
endpoint maps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2304288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1" y="2395728"/>
            <a:ext cx="355701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C00000"/>
                </a:solidFill>
                <a:latin typeface="Inter"/>
              </a:rPr>
              <a:t>FIG-S7-A  |  Fan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259836"/>
            <a:ext cx="348386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A5A5A"/>
                </a:solidFill>
                <a:latin typeface="Inter"/>
              </a:rPr>
              <a:t>DROP LITERATURE FIGURE HERE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1" y="4059936"/>
            <a:ext cx="355701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  <a:latin typeface="Inter"/>
              </a:rPr>
              <a:t>plunge-freeze / cryo-capture workflow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1" y="4261104"/>
            <a:ext cx="3557015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0" i="0">
                <a:solidFill>
                  <a:srgbClr val="5A5A5A"/>
                </a:solidFill>
                <a:latin typeface="Inter"/>
              </a:rPr>
              <a:t>Fan et al. 2025, Fig.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663440"/>
            <a:ext cx="7726679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1" y="4754879"/>
            <a:ext cx="7580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C00000"/>
                </a:solidFill>
                <a:latin typeface="Inter"/>
              </a:rPr>
              <a:t>FIG-S7-B  |  Fan endpoint maps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193792"/>
            <a:ext cx="75072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A5A5A"/>
                </a:solidFill>
                <a:latin typeface="Inter"/>
              </a:rPr>
              <a:t>DROP LITERATURE FIGURE HERE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1" y="5568696"/>
            <a:ext cx="7580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  <a:latin typeface="Inter"/>
              </a:rPr>
              <a:t>pre-illumination / locked post-illumination / relaxed maps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1" y="5769864"/>
            <a:ext cx="7580375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0" i="0">
                <a:solidFill>
                  <a:srgbClr val="5A5A5A"/>
                </a:solidFill>
                <a:latin typeface="Inter"/>
              </a:rPr>
              <a:t>Fan et al. 2025, Fig. 3 (panels a–c, cropped)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17720" y="2221992"/>
            <a:ext cx="6949440" cy="2258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46320" y="244144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Inter"/>
              </a:rPr>
              <a:t>What Fan 2025 establishes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274320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80">
                <a:solidFill>
                  <a:srgbClr val="5A5A5A"/>
                </a:solidFill>
                <a:latin typeface="Inter"/>
              </a:defRPr>
            </a:pPr>
            <a:r>
              <a:t>• plunge-freeze can preserve transient PIPS-related structure for endpoint microscopy</a:t>
            </a:r>
          </a:p>
          <a:p>
            <a:pPr>
              <a:spcAft>
                <a:spcPts val="200"/>
              </a:spcAft>
              <a:defRPr sz="880">
                <a:solidFill>
                  <a:srgbClr val="5A5A5A"/>
                </a:solidFill>
                <a:latin typeface="Inter"/>
              </a:defRPr>
            </a:pPr>
            <a:r>
              <a:t>• cryo-EM/EELS/4D-STEM connect morphology, I/Cs proxy and lattice strain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244144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Inter"/>
              </a:rPr>
              <a:t>What remains open for this plan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2743200"/>
            <a:ext cx="32004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40">
                <a:solidFill>
                  <a:srgbClr val="5A5A5A"/>
                </a:solidFill>
                <a:latin typeface="Inter"/>
              </a:defRPr>
            </a:pPr>
            <a:r>
              <a:t>• no continuous same-ROI operando trajectory before locking</a:t>
            </a:r>
          </a:p>
          <a:p>
            <a:pPr>
              <a:spcAft>
                <a:spcPts val="200"/>
              </a:spcAft>
              <a:defRPr sz="840">
                <a:solidFill>
                  <a:srgbClr val="5A5A5A"/>
                </a:solidFill>
                <a:latin typeface="Inter"/>
              </a:defRPr>
            </a:pPr>
            <a:r>
              <a:t>• endpoint samples are discrete states, not one uninterrupted movie</a:t>
            </a:r>
          </a:p>
          <a:p>
            <a:pPr>
              <a:spcAft>
                <a:spcPts val="200"/>
              </a:spcAft>
              <a:defRPr sz="840">
                <a:solidFill>
                  <a:srgbClr val="5A5A5A"/>
                </a:solidFill>
                <a:latin typeface="Inter"/>
              </a:defRPr>
            </a:pPr>
            <a:r>
              <a:t>• Br distribution is often inferred indirectly from I/Cs contrast</a:t>
            </a:r>
          </a:p>
          <a:p>
            <a:pPr>
              <a:spcAft>
                <a:spcPts val="200"/>
              </a:spcAft>
              <a:defRPr sz="840">
                <a:solidFill>
                  <a:srgbClr val="5A5A5A"/>
                </a:solidFill>
                <a:latin typeface="Inter"/>
              </a:defRPr>
            </a:pPr>
            <a:r>
              <a:t>• strain–composition causality remains underdetermined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4983480"/>
            <a:ext cx="27889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1A1A1A"/>
                </a:solidFill>
                <a:latin typeface="Inter"/>
              </a:rPr>
              <a:t>Opportunity: combine operando state writing + low-drift locking + multi-projection endpoint reading, then infer a shared physical state Z.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D3CF4FA-598F-AD26-F496-13BA62AF4824}"/>
              </a:ext>
            </a:extLst>
          </p:cNvPr>
          <p:cNvSpPr txBox="1"/>
          <p:nvPr/>
        </p:nvSpPr>
        <p:spPr>
          <a:xfrm>
            <a:off x="657139" y="3866233"/>
            <a:ext cx="91818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highlight>
                  <a:srgbClr val="FFFF00"/>
                </a:highlight>
              </a:rPr>
              <a:t>论文调研这页应该放在这个位置，不要局限一篇论文，按照将相分离是什么东西说明白的方向去写内容，内容可以用我们论文库里面的论文完善。核心在于如何将相分离跟观众介绍清楚，并引出核心矛盾点，顺利往下一页的提出假设过渡</a:t>
            </a:r>
            <a:endParaRPr kumimoji="1" lang="en-US" altLang="zh-CN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Source Serif 4"/>
              </a:rPr>
              <a:t>4. Photoinduced phase segregation limits WBG top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6751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5A5A5A"/>
                </a:solidFill>
                <a:latin typeface="Inter"/>
              </a:rPr>
              <a:t>Under illumination, mixed I/Br perovskites can demix into low-bandgap I-rich and high-bandgap Br-rich regions.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283464"/>
            <a:ext cx="7315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Inter"/>
              </a:rPr>
              <a:t>5/12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69848"/>
            <a:ext cx="51663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161288"/>
            <a:ext cx="50200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C00000"/>
                </a:solidFill>
                <a:latin typeface="Inter"/>
              </a:rPr>
              <a:t>FIG-S5-A  |  5.65×2.55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16836"/>
            <a:ext cx="4946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A5A5A"/>
                </a:solidFill>
                <a:latin typeface="Inter"/>
              </a:rPr>
              <a:t>DROP LITERATURE FIGURE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008375"/>
            <a:ext cx="50200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  <a:latin typeface="Inter"/>
              </a:rPr>
              <a:t>PL red-shift vs illumination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209544"/>
            <a:ext cx="502005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0" i="0">
                <a:solidFill>
                  <a:srgbClr val="5A5A5A"/>
                </a:solidFill>
                <a:latin typeface="Inter"/>
              </a:rPr>
              <a:t>Hoke et al. 2015, Fig.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069848"/>
            <a:ext cx="50749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161288"/>
            <a:ext cx="492861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C00000"/>
                </a:solidFill>
                <a:latin typeface="Inter"/>
              </a:rPr>
              <a:t>FIG-S5-B  |  5.55×2.55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116836"/>
            <a:ext cx="48554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A5A5A"/>
                </a:solidFill>
                <a:latin typeface="Inter"/>
              </a:rPr>
              <a:t>DROP LITERATURE FIGURE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3008375"/>
            <a:ext cx="492861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  <a:latin typeface="Inter"/>
              </a:rPr>
              <a:t>Frozen ion redistribution / lattice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209544"/>
            <a:ext cx="49286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0" i="0">
                <a:solidFill>
                  <a:srgbClr val="5A5A5A"/>
                </a:solidFill>
                <a:latin typeface="Inter"/>
              </a:rPr>
              <a:t>Fan et al. 2025, Fig. 3 (cropped)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94760"/>
            <a:ext cx="338328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" y="3959352"/>
            <a:ext cx="310896" cy="31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" y="4014215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886200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Inter"/>
              </a:rPr>
              <a:t>Demixing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4187952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 dirty="0">
                <a:solidFill>
                  <a:srgbClr val="5A5A5A"/>
                </a:solidFill>
                <a:latin typeface="Inter"/>
              </a:rPr>
              <a:t>Uniform mixed halide → I-rich + Br-rich domains under light.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794760"/>
            <a:ext cx="338328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434840" y="3959352"/>
            <a:ext cx="310896" cy="31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17136" y="4014215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3886200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Inter"/>
              </a:rPr>
              <a:t>Funneling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4187952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5A5A5A"/>
                </a:solidFill>
                <a:latin typeface="Inter"/>
              </a:rPr>
              <a:t>Carriers relax into lower-Eg tails, amplifying optical red-shift.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794760"/>
            <a:ext cx="338328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138160" y="3959352"/>
            <a:ext cx="310896" cy="31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0456" y="4014215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3886200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Inter"/>
              </a:rPr>
              <a:t>Ambiguity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4187952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5A5A5A"/>
                </a:solidFill>
                <a:latin typeface="Inter"/>
              </a:rPr>
              <a:t>PL reports phenotype; it does not identify composition, traps, strain or chemistry alone.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578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C00000"/>
                </a:solidFill>
                <a:latin typeface="Inter"/>
              </a:rPr>
              <a:t>Transition: the central problem is not whether segregation occurs, but which hidden mechanism dominates each observable.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7F2DE53-AD91-98B4-A784-2E7A737D16AB}"/>
              </a:ext>
            </a:extLst>
          </p:cNvPr>
          <p:cNvSpPr txBox="1"/>
          <p:nvPr/>
        </p:nvSpPr>
        <p:spPr>
          <a:xfrm>
            <a:off x="657139" y="3866233"/>
            <a:ext cx="9181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highlight>
                  <a:srgbClr val="FFFF00"/>
                </a:highlight>
              </a:rPr>
              <a:t>跟上面的一页合并在一块就可以了吧？我没了解为什么要两页的文献调研和介绍？</a:t>
            </a:r>
            <a:endParaRPr kumimoji="1" lang="en-US" altLang="zh-CN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Source Serif 4"/>
              </a:rPr>
              <a:t>5. Research question: how can five coupled mechanisms be decoupled?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6751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5A5A5A"/>
                </a:solidFill>
                <a:latin typeface="Inter"/>
              </a:rPr>
              <a:t>Each hidden variable has a physical image projection, but every projection is confounded unless interpreted jointly.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283464"/>
            <a:ext cx="7315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Inter"/>
              </a:rPr>
              <a:t>6/12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41832"/>
            <a:ext cx="10881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 i="1">
                <a:solidFill>
                  <a:srgbClr val="5A5A5A"/>
                </a:solidFill>
                <a:latin typeface="Inter"/>
              </a:rPr>
              <a:t>Resolution of the review note: keep the five-state topology, but enlarge each image anchor; the observable matrix is compressed into one rigorous projection rule.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40280" y="2304288"/>
            <a:ext cx="3813047" cy="0"/>
          </a:xfrm>
          <a:prstGeom prst="line">
            <a:avLst/>
          </a:prstGeom>
          <a:ln w="635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40280" y="2304288"/>
            <a:ext cx="7626096" cy="0"/>
          </a:xfrm>
          <a:prstGeom prst="line">
            <a:avLst/>
          </a:prstGeom>
          <a:ln w="635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40280" y="2304288"/>
            <a:ext cx="1901951" cy="2624328"/>
          </a:xfrm>
          <a:prstGeom prst="line">
            <a:avLst/>
          </a:prstGeom>
          <a:ln w="635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240280" y="2304288"/>
            <a:ext cx="5714999" cy="2624328"/>
          </a:xfrm>
          <a:prstGeom prst="line">
            <a:avLst/>
          </a:prstGeom>
          <a:ln w="635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53327" y="2304288"/>
            <a:ext cx="3813049" cy="0"/>
          </a:xfrm>
          <a:prstGeom prst="line">
            <a:avLst/>
          </a:prstGeom>
          <a:ln w="635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142231" y="2304288"/>
            <a:ext cx="1911096" cy="2624328"/>
          </a:xfrm>
          <a:prstGeom prst="line">
            <a:avLst/>
          </a:prstGeom>
          <a:ln w="635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53327" y="2304288"/>
            <a:ext cx="1901952" cy="2624328"/>
          </a:xfrm>
          <a:prstGeom prst="line">
            <a:avLst/>
          </a:prstGeom>
          <a:ln w="635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142231" y="2304288"/>
            <a:ext cx="5724145" cy="2624328"/>
          </a:xfrm>
          <a:prstGeom prst="line">
            <a:avLst/>
          </a:prstGeom>
          <a:ln w="635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955279" y="2304288"/>
            <a:ext cx="1911097" cy="2624328"/>
          </a:xfrm>
          <a:prstGeom prst="line">
            <a:avLst/>
          </a:prstGeom>
          <a:ln w="635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142231" y="4928616"/>
            <a:ext cx="3813048" cy="0"/>
          </a:xfrm>
          <a:prstGeom prst="line">
            <a:avLst/>
          </a:prstGeom>
          <a:ln w="635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09160" y="3063240"/>
            <a:ext cx="278892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3218688"/>
            <a:ext cx="2514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1A1A1A"/>
                </a:solidFill>
                <a:latin typeface="Courier New"/>
              </a:rPr>
              <a:t>Z = {xBr/I, Ndefect, φlocal, ε, Cdeg}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419856"/>
            <a:ext cx="1691640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90" b="0" i="0">
                <a:solidFill>
                  <a:srgbClr val="5A5A5A"/>
                </a:solidFill>
                <a:latin typeface="Inter"/>
              </a:rPr>
              <a:t>coupled latent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234440"/>
            <a:ext cx="3566160" cy="21762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" y="138074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1" i="0">
                <a:solidFill>
                  <a:srgbClr val="C00000"/>
                </a:solidFill>
                <a:latin typeface="Courier New"/>
              </a:rPr>
              <a:t>xBr/I(r,z)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1368" y="1380744"/>
            <a:ext cx="204825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>
                <a:solidFill>
                  <a:srgbClr val="1A1A1A"/>
                </a:solidFill>
                <a:latin typeface="Inter"/>
              </a:rPr>
              <a:t>halide composition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1673352"/>
            <a:ext cx="2377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1746504"/>
            <a:ext cx="226771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C00000"/>
                </a:solidFill>
                <a:latin typeface="Inter"/>
              </a:rPr>
              <a:t>FIG ANCHOR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2208276"/>
            <a:ext cx="21945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0" b="0" i="0">
                <a:solidFill>
                  <a:srgbClr val="5A5A5A"/>
                </a:solidFill>
                <a:latin typeface="Inter"/>
              </a:rPr>
              <a:t>DROP FIGURE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2752344"/>
            <a:ext cx="2231136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70" b="0" i="0">
                <a:solidFill>
                  <a:srgbClr val="5A5A5A"/>
                </a:solidFill>
                <a:latin typeface="Inter"/>
              </a:rPr>
              <a:t>Tang 2018, Fig.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27832" y="1764792"/>
            <a:ext cx="65836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90" b="0" i="0">
                <a:solidFill>
                  <a:srgbClr val="5A5A5A"/>
                </a:solidFill>
                <a:latin typeface="Inter"/>
              </a:rPr>
              <a:t>spatial I/Br heterogeneity; PL is a proxy, not direct chemistry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044952"/>
            <a:ext cx="30632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0" b="0" i="1">
                <a:solidFill>
                  <a:srgbClr val="1A1A1A"/>
                </a:solidFill>
                <a:latin typeface="Inter"/>
              </a:rPr>
              <a:t>observable ≠ state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1234440"/>
            <a:ext cx="3566160" cy="21762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43983" y="138074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1" i="0">
                <a:solidFill>
                  <a:srgbClr val="C00000"/>
                </a:solidFill>
                <a:latin typeface="Courier New"/>
              </a:rPr>
              <a:t>Ndefect(r)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4416" y="1380744"/>
            <a:ext cx="204825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>
                <a:solidFill>
                  <a:srgbClr val="1A1A1A"/>
                </a:solidFill>
                <a:latin typeface="Inter"/>
              </a:rPr>
              <a:t>traps / vacancy density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1673352"/>
            <a:ext cx="2377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81144" y="1746504"/>
            <a:ext cx="226771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C00000"/>
                </a:solidFill>
                <a:latin typeface="Inter"/>
              </a:rPr>
              <a:t>FIG ANCHOR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2208276"/>
            <a:ext cx="21945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0" b="0" i="0">
                <a:solidFill>
                  <a:srgbClr val="5A5A5A"/>
                </a:solidFill>
                <a:latin typeface="Inter"/>
              </a:rPr>
              <a:t>DROP FIGURE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2" y="2752344"/>
            <a:ext cx="2231136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70" b="0" i="0">
                <a:solidFill>
                  <a:srgbClr val="5A5A5A"/>
                </a:solidFill>
                <a:latin typeface="Inter"/>
              </a:rPr>
              <a:t>Tiede 2020, Fig. 2 or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79" y="1764792"/>
            <a:ext cx="65836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90" b="0" i="0">
                <a:solidFill>
                  <a:srgbClr val="5A5A5A"/>
                </a:solidFill>
                <a:latin typeface="Inter"/>
              </a:rPr>
              <a:t>defect-assisted halide rearrangement and kinetic memory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4568" y="3044952"/>
            <a:ext cx="30632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0" b="0" i="1">
                <a:solidFill>
                  <a:srgbClr val="1A1A1A"/>
                </a:solidFill>
                <a:latin typeface="Inter"/>
              </a:rPr>
              <a:t>observable ≠ state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29016" y="1234440"/>
            <a:ext cx="3566160" cy="21762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57032" y="138074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1" i="0">
                <a:solidFill>
                  <a:srgbClr val="C00000"/>
                </a:solidFill>
                <a:latin typeface="Courier New"/>
              </a:rPr>
              <a:t>φlocal(r)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27464" y="1380744"/>
            <a:ext cx="204825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>
                <a:solidFill>
                  <a:srgbClr val="1A1A1A"/>
                </a:solidFill>
                <a:latin typeface="Inter"/>
              </a:rPr>
              <a:t>local potential / SPV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39328" y="1673352"/>
            <a:ext cx="2377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94192" y="1746504"/>
            <a:ext cx="226771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C00000"/>
                </a:solidFill>
                <a:latin typeface="Inter"/>
              </a:rPr>
              <a:t>FIG ANCHOR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0768" y="2208276"/>
            <a:ext cx="21945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0" b="0" i="0">
                <a:solidFill>
                  <a:srgbClr val="5A5A5A"/>
                </a:solidFill>
                <a:latin typeface="Inter"/>
              </a:rPr>
              <a:t>DROP FIGURE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2752344"/>
            <a:ext cx="2231136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70" b="0" i="0">
                <a:solidFill>
                  <a:srgbClr val="5A5A5A"/>
                </a:solidFill>
                <a:latin typeface="Inter"/>
              </a:rPr>
              <a:t>Tang 2018, Fig.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53928" y="1764792"/>
            <a:ext cx="65836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90" b="0" i="0">
                <a:solidFill>
                  <a:srgbClr val="5A5A5A"/>
                </a:solidFill>
                <a:latin typeface="Inter"/>
              </a:rPr>
              <a:t>KPFM CPD contrast at grain boundary / grain core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7616" y="3044952"/>
            <a:ext cx="30632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0" b="0" i="1">
                <a:solidFill>
                  <a:srgbClr val="1A1A1A"/>
                </a:solidFill>
                <a:latin typeface="Inter"/>
              </a:rPr>
              <a:t>observable ≠ state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04872" y="3858768"/>
            <a:ext cx="3566160" cy="21762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32888" y="4005072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1" i="0">
                <a:solidFill>
                  <a:srgbClr val="C00000"/>
                </a:solidFill>
                <a:latin typeface="Courier New"/>
              </a:rPr>
              <a:t>ε(r)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03320" y="4005072"/>
            <a:ext cx="204825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>
                <a:solidFill>
                  <a:srgbClr val="1A1A1A"/>
                </a:solidFill>
                <a:latin typeface="Inter"/>
              </a:rPr>
              <a:t>strain / microstrain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15184" y="4297679"/>
            <a:ext cx="2377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670048" y="4370831"/>
            <a:ext cx="226771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C00000"/>
                </a:solidFill>
                <a:latin typeface="Inter"/>
              </a:rPr>
              <a:t>FIG ANCHOR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6624" y="4832603"/>
            <a:ext cx="21945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0" b="0" i="0">
                <a:solidFill>
                  <a:srgbClr val="5A5A5A"/>
                </a:solidFill>
                <a:latin typeface="Inter"/>
              </a:rPr>
              <a:t>DROP FIGURE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88336" y="5376671"/>
            <a:ext cx="2231136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70" b="0" i="0">
                <a:solidFill>
                  <a:srgbClr val="5A5A5A"/>
                </a:solidFill>
                <a:latin typeface="Inter"/>
              </a:rPr>
              <a:t>Zhao 2020, Fig. 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9783" y="4389120"/>
            <a:ext cx="65836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90" b="0" i="0">
                <a:solidFill>
                  <a:srgbClr val="5A5A5A"/>
                </a:solidFill>
                <a:latin typeface="Inter"/>
              </a:rPr>
              <a:t>strain-activated local halide segregation and boundary sensitivity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33472" y="5669279"/>
            <a:ext cx="30632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0" b="0" i="1">
                <a:solidFill>
                  <a:srgbClr val="1A1A1A"/>
                </a:solidFill>
                <a:latin typeface="Inter"/>
              </a:rPr>
              <a:t>observable ≠ state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3858768"/>
            <a:ext cx="3566160" cy="21762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45936" y="4005072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1" i="0">
                <a:solidFill>
                  <a:srgbClr val="C00000"/>
                </a:solidFill>
                <a:latin typeface="Courier New"/>
              </a:rPr>
              <a:t>Cdeg(r)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16367" y="4005072"/>
            <a:ext cx="204825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>
                <a:solidFill>
                  <a:srgbClr val="1A1A1A"/>
                </a:solidFill>
                <a:latin typeface="Inter"/>
              </a:rPr>
              <a:t>irreversible chemistry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28232" y="4297679"/>
            <a:ext cx="2377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83096" y="4370831"/>
            <a:ext cx="226771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C00000"/>
                </a:solidFill>
                <a:latin typeface="Inter"/>
              </a:rPr>
              <a:t>FIG ANCHOR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19672" y="4832603"/>
            <a:ext cx="21945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0" b="0" i="0">
                <a:solidFill>
                  <a:srgbClr val="5A5A5A"/>
                </a:solidFill>
                <a:latin typeface="Inter"/>
              </a:rPr>
              <a:t>DROP FIGURE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01384" y="5376671"/>
            <a:ext cx="2231136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70" b="0" i="0">
                <a:solidFill>
                  <a:srgbClr val="5A5A5A"/>
                </a:solidFill>
                <a:latin typeface="Inter"/>
              </a:rPr>
              <a:t>Fang 2024, Fig. 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42832" y="4389120"/>
            <a:ext cx="65836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90" b="0" i="0">
                <a:solidFill>
                  <a:srgbClr val="5A5A5A"/>
                </a:solidFill>
                <a:latin typeface="Inter"/>
              </a:rPr>
              <a:t>degradation markers separate reversible PIPS from chemical damage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46520" y="5669279"/>
            <a:ext cx="30632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0" b="0" i="1">
                <a:solidFill>
                  <a:srgbClr val="1A1A1A"/>
                </a:solidFill>
                <a:latin typeface="Inter"/>
              </a:rPr>
              <a:t>observable ≠ state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6291072"/>
            <a:ext cx="109087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04672" y="6364224"/>
            <a:ext cx="1056132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A5A5A"/>
                </a:solidFill>
                <a:latin typeface="Inter"/>
              </a:rPr>
              <a:t>Projection rule: PL/KPFM/SIMS/XPS/GIWAXS/Raman are biased views of Z; decoupling requires shared-state inference plus drift, beam-dose and transfer controls.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70832" y="3419856"/>
            <a:ext cx="3456432" cy="3291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507992" y="3502152"/>
            <a:ext cx="3182112" cy="73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20" b="1">
                <a:solidFill>
                  <a:srgbClr val="1A1A1A"/>
                </a:solidFill>
                <a:latin typeface="Courier New"/>
              </a:rPr>
              <a:t>shared Z = {composition, defects, potential, strain, degradation}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79484637-26FD-8265-A8DE-DA15277984EB}"/>
              </a:ext>
            </a:extLst>
          </p:cNvPr>
          <p:cNvSpPr txBox="1"/>
          <p:nvPr/>
        </p:nvSpPr>
        <p:spPr>
          <a:xfrm>
            <a:off x="657139" y="3866233"/>
            <a:ext cx="9181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highlight>
                  <a:srgbClr val="FFFF00"/>
                </a:highlight>
              </a:rPr>
              <a:t>这一页挺好，但是字体有点小，字体和插图的大小调整一下就好了</a:t>
            </a:r>
            <a:endParaRPr kumimoji="1" lang="en-US" altLang="zh-CN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Source Serif 4"/>
              </a:rPr>
              <a:t>7. SL-PCI turns correlative observations into inverse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6751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5A5A5A"/>
                </a:solidFill>
                <a:latin typeface="Inter"/>
              </a:rPr>
              <a:t>State-Locked Physics-Informed Correlative Inference: write a defined state, lock it, read endpoints, infer one shared Z.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283464"/>
            <a:ext cx="7315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Inter"/>
              </a:rPr>
              <a:t>8/12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70432"/>
            <a:ext cx="230428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2" y="1371600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44752"/>
            <a:ext cx="109728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307592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Inter"/>
              </a:rPr>
              <a:t>Write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572768"/>
            <a:ext cx="1508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 i="0">
                <a:solidFill>
                  <a:srgbClr val="5A5A5A"/>
                </a:solidFill>
                <a:latin typeface="Inter"/>
              </a:rPr>
              <a:t>operando PL + KPFM
ms–min dynamics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62656" y="1645920"/>
            <a:ext cx="34747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74720" y="1170432"/>
            <a:ext cx="230428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21024" y="1371600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0752" y="1444752"/>
            <a:ext cx="109728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1307592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Inter"/>
              </a:rPr>
              <a:t>Lock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572768"/>
            <a:ext cx="1508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 i="0">
                <a:solidFill>
                  <a:srgbClr val="5A5A5A"/>
                </a:solidFill>
                <a:latin typeface="Inter"/>
              </a:rPr>
              <a:t>rapid low-T termination
seconds/quench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79008" y="1645920"/>
            <a:ext cx="347471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91072" y="1170432"/>
            <a:ext cx="230428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37376" y="1371600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47104" y="1444752"/>
            <a:ext cx="109728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1307592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Inter"/>
              </a:rPr>
              <a:t>Read endpoint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1572768"/>
            <a:ext cx="1508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 i="0">
                <a:solidFill>
                  <a:srgbClr val="5A5A5A"/>
                </a:solidFill>
                <a:latin typeface="Inter"/>
              </a:rPr>
              <a:t>SIMS/XPS/GIWAXS/Raman
static projections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95360" y="1645920"/>
            <a:ext cx="34747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07424" y="1170432"/>
            <a:ext cx="230428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253728" y="1371600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63456" y="1444752"/>
            <a:ext cx="109728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1784" y="1307592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Inter"/>
              </a:rPr>
              <a:t>Infer 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1784" y="1572768"/>
            <a:ext cx="1508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 i="0">
                <a:solidFill>
                  <a:srgbClr val="5A5A5A"/>
                </a:solidFill>
                <a:latin typeface="Inter"/>
              </a:rPr>
              <a:t>forward model + artifacts
offline uncertainty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2560320"/>
            <a:ext cx="422452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59" y="2651760"/>
            <a:ext cx="407822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C00000"/>
                </a:solidFill>
                <a:latin typeface="Inter"/>
              </a:rPr>
              <a:t>FIG-S8  |  method evidence composite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3776472"/>
            <a:ext cx="40050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A5A5A"/>
                </a:solidFill>
                <a:latin typeface="Inter"/>
              </a:rPr>
              <a:t>DROP LITERATURE FIGURE HERE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4837176"/>
            <a:ext cx="407822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  <a:latin typeface="Inter"/>
              </a:rPr>
              <a:t>operando trajectory  +  frozen endpoint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5038344"/>
            <a:ext cx="40782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0" i="0">
                <a:solidFill>
                  <a:srgbClr val="5A5A5A"/>
                </a:solidFill>
                <a:latin typeface="Inter"/>
              </a:rPr>
              <a:t>Tang et al. 2018, Fig. 2 + Fan et al. 2025, Fig.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21808" y="2542032"/>
            <a:ext cx="6172200" cy="2670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59552" y="278892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Inter"/>
              </a:rPr>
              <a:t>Generative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59552" y="3154680"/>
            <a:ext cx="3063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A1A1A"/>
                </a:solidFill>
                <a:latin typeface="Cambria Math"/>
              </a:rPr>
              <a:t>y_m</a:t>
            </a:r>
            <a:r>
              <a:rPr sz="1400" b="1" i="0" dirty="0">
                <a:solidFill>
                  <a:srgbClr val="1A1A1A"/>
                </a:solidFill>
                <a:latin typeface="Cambria Math"/>
              </a:rPr>
              <a:t> = </a:t>
            </a:r>
            <a:r>
              <a:rPr sz="1400" b="1" i="0" dirty="0" err="1">
                <a:solidFill>
                  <a:srgbClr val="1A1A1A"/>
                </a:solidFill>
                <a:latin typeface="Cambria Math"/>
              </a:rPr>
              <a:t>H_m</a:t>
            </a:r>
            <a:r>
              <a:rPr sz="1400" b="1" i="0" dirty="0">
                <a:solidFill>
                  <a:srgbClr val="1A1A1A"/>
                </a:solidFill>
                <a:latin typeface="Cambria Math"/>
              </a:rPr>
              <a:t>(Z; </a:t>
            </a:r>
            <a:r>
              <a:rPr sz="1400" b="1" i="0" dirty="0" err="1">
                <a:solidFill>
                  <a:srgbClr val="1A1A1A"/>
                </a:solidFill>
                <a:latin typeface="Cambria Math"/>
              </a:rPr>
              <a:t>θ_m</a:t>
            </a:r>
            <a:r>
              <a:rPr sz="1400" b="1" i="0" dirty="0">
                <a:solidFill>
                  <a:srgbClr val="1A1A1A"/>
                </a:solidFill>
                <a:latin typeface="Cambria Math"/>
              </a:rPr>
              <a:t>) + </a:t>
            </a:r>
            <a:r>
              <a:rPr sz="1400" b="1" i="0" dirty="0" err="1">
                <a:solidFill>
                  <a:srgbClr val="1A1A1A"/>
                </a:solidFill>
                <a:latin typeface="Cambria Math"/>
              </a:rPr>
              <a:t>A_m</a:t>
            </a:r>
            <a:r>
              <a:rPr sz="1400" b="1" i="0" dirty="0">
                <a:solidFill>
                  <a:srgbClr val="1A1A1A"/>
                </a:solidFill>
                <a:latin typeface="Cambria Math"/>
              </a:rPr>
              <a:t> + </a:t>
            </a:r>
            <a:r>
              <a:rPr sz="1400" b="1" i="0" dirty="0" err="1">
                <a:solidFill>
                  <a:srgbClr val="1A1A1A"/>
                </a:solidFill>
                <a:latin typeface="Cambria Math"/>
              </a:rPr>
              <a:t>η_m</a:t>
            </a:r>
            <a:endParaRPr sz="1400" b="1" i="0" dirty="0">
              <a:solidFill>
                <a:srgbClr val="1A1A1A"/>
              </a:solidFill>
              <a:latin typeface="Cambria Math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23560" y="358444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A5A5A"/>
                </a:solidFill>
                <a:latin typeface="Inter"/>
              </a:defRPr>
            </a:pPr>
            <a:r>
              <a:t>• H_m: modality-specific physics / sensitivity</a:t>
            </a:r>
          </a:p>
          <a:p>
            <a:pPr>
              <a:spcAft>
                <a:spcPts val="200"/>
              </a:spcAft>
              <a:defRPr sz="900">
                <a:solidFill>
                  <a:srgbClr val="5A5A5A"/>
                </a:solidFill>
                <a:latin typeface="Inter"/>
              </a:defRPr>
            </a:pPr>
            <a:r>
              <a:t>• A_m: preparation, drift, beam and transfer artifact</a:t>
            </a:r>
          </a:p>
          <a:p>
            <a:pPr>
              <a:spcAft>
                <a:spcPts val="200"/>
              </a:spcAft>
              <a:defRPr sz="900">
                <a:solidFill>
                  <a:srgbClr val="5A5A5A"/>
                </a:solidFill>
                <a:latin typeface="Inter"/>
              </a:defRPr>
            </a:pPr>
            <a:r>
              <a:t>• η_m: noise model, not residual “messiness”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7889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Inter"/>
              </a:rPr>
              <a:t>Key distinction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4272" y="3127248"/>
            <a:ext cx="20574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1A1A1A"/>
                </a:solidFill>
                <a:latin typeface="Inter"/>
              </a:rPr>
              <a:t>Not characterization stacking. SL-PCI is state-locked inverse inference: the same hidden Z must explain all endpoint projections after bounded drift.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" y="5605272"/>
            <a:ext cx="10378440" cy="411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3271" y="5724144"/>
            <a:ext cx="100126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0" i="0">
                <a:solidFill>
                  <a:srgbClr val="5A5A5A"/>
                </a:solidFill>
                <a:latin typeface="Inter"/>
              </a:rPr>
              <a:t>Controls: dark/inert transfer, delay series, beam-dose limits, and repeat S0/S5 endpoints estimate state drift instead of assuming the lock is perfect.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Source Serif 4"/>
              </a:rPr>
              <a:t>8. Hidden state Z and physical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6751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5A5A5A"/>
                </a:solidFill>
                <a:latin typeface="Inter"/>
              </a:rPr>
              <a:t>Equations define the physical logic; inference reports mechanism weights with uncertainty rather than a single qualitative label.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283464"/>
            <a:ext cx="7315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Inter"/>
              </a:rPr>
              <a:t>9/12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70432"/>
            <a:ext cx="4983480" cy="42793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Inter"/>
              </a:rPr>
              <a:t>Latent state Z: five coupled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1" i="0">
                <a:solidFill>
                  <a:srgbClr val="C00000"/>
                </a:solidFill>
                <a:latin typeface="Courier New"/>
              </a:rPr>
              <a:t>xBr/I(r,z)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810512"/>
            <a:ext cx="2514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 i="0">
                <a:solidFill>
                  <a:srgbClr val="1A1A1A"/>
                </a:solidFill>
                <a:latin typeface="Inter"/>
              </a:rPr>
              <a:t>halide 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1" i="0">
                <a:solidFill>
                  <a:srgbClr val="C00000"/>
                </a:solidFill>
                <a:latin typeface="Courier New"/>
              </a:rPr>
              <a:t>Ndefect(r)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194560"/>
            <a:ext cx="2514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 i="0">
                <a:solidFill>
                  <a:srgbClr val="1A1A1A"/>
                </a:solidFill>
                <a:latin typeface="Inter"/>
              </a:rPr>
              <a:t>traps / vacancies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78608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1" i="0">
                <a:solidFill>
                  <a:srgbClr val="C00000"/>
                </a:solidFill>
                <a:latin typeface="Courier New"/>
              </a:rPr>
              <a:t>φlocal(r)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578608"/>
            <a:ext cx="2514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 i="0">
                <a:solidFill>
                  <a:srgbClr val="1A1A1A"/>
                </a:solidFill>
                <a:latin typeface="Inter"/>
              </a:rPr>
              <a:t>local potential / SPV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62656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1" i="0">
                <a:solidFill>
                  <a:srgbClr val="C00000"/>
                </a:solidFill>
                <a:latin typeface="Courier New"/>
              </a:rPr>
              <a:t>ε(r)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962656"/>
            <a:ext cx="2514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 i="0">
                <a:solidFill>
                  <a:srgbClr val="1A1A1A"/>
                </a:solidFill>
                <a:latin typeface="Inter"/>
              </a:rPr>
              <a:t>strain / microstrain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46704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1" i="0">
                <a:solidFill>
                  <a:srgbClr val="C00000"/>
                </a:solidFill>
                <a:latin typeface="Courier New"/>
              </a:rPr>
              <a:t>Cdeg(r)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346704"/>
            <a:ext cx="2514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 i="0">
                <a:solidFill>
                  <a:srgbClr val="1A1A1A"/>
                </a:solidFill>
                <a:latin typeface="Inter"/>
              </a:rPr>
              <a:t>irreversible chemistry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Inter"/>
              </a:rPr>
              <a:t>Free-energy decomposition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29768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mbria Math"/>
              </a:rPr>
              <a:t>Gtotal = Gmix + Gcarrier + Gelastic + Gdefect + Ginterface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690872"/>
            <a:ext cx="4206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mbria Math"/>
              </a:rPr>
              <a:t>Kinetics:  ∂x/∂t = ∇·[M∇μ],     μ = δF/δx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170432"/>
            <a:ext cx="4983480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9632" y="1261872"/>
            <a:ext cx="48371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C00000"/>
                </a:solidFill>
                <a:latin typeface="Inter"/>
              </a:rPr>
              <a:t>FIG-S9  |  free-energy physical anchor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191256"/>
            <a:ext cx="4764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A5A5A"/>
                </a:solidFill>
                <a:latin typeface="Inter"/>
              </a:rPr>
              <a:t>DROP LITERATURE FIGURE 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5056632"/>
            <a:ext cx="48371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  <a:latin typeface="Inter"/>
              </a:rPr>
              <a:t>dark vs illuminated free-energy landscape / carrier funneling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5257800"/>
            <a:ext cx="483717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0" i="0">
                <a:solidFill>
                  <a:srgbClr val="5A5A5A"/>
                </a:solidFill>
                <a:latin typeface="Inter"/>
              </a:rPr>
              <a:t>Ruth et al. 2023, Fig. 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50992"/>
            <a:ext cx="10442448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806440"/>
            <a:ext cx="100126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19" b="0" i="0">
                <a:solidFill>
                  <a:srgbClr val="5A5A5A"/>
                </a:solidFill>
                <a:latin typeface="Inter"/>
              </a:rPr>
              <a:t>Inference target: identify which terms must change to explain S0–S5 trajectories and locked endpoint maps; do not infer “phase segregation” from PL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Source Serif 4"/>
              </a:rPr>
              <a:t>9. Four falsifiable hypotheses structure the PhD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6751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5A5A5A"/>
                </a:solidFill>
                <a:latin typeface="Inter"/>
              </a:rPr>
              <a:t>Each hypothesis links an observable trajectory to a locked endpoint readout and a statistical decision rule.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283464"/>
            <a:ext cx="7315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Inter"/>
              </a:rPr>
              <a:t>10/12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175504" cy="19568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Inter"/>
              </a:rPr>
              <a:t>H1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" y="1737360"/>
            <a:ext cx="1691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54533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C00000"/>
                </a:solidFill>
                <a:latin typeface="Inter"/>
              </a:rPr>
              <a:t>FIG-H1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2212848"/>
            <a:ext cx="14721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A5A5A"/>
                </a:solidFill>
                <a:latin typeface="Inter"/>
              </a:rPr>
              <a:t>DROP LITERATURE FIGURE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34056"/>
            <a:ext cx="1545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0" i="0">
                <a:solidFill>
                  <a:srgbClr val="5A5A5A"/>
                </a:solidFill>
                <a:latin typeface="Inter"/>
              </a:rPr>
              <a:t>Ruth et al. 2023, Fig.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1435608"/>
            <a:ext cx="2788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 i="0">
                <a:solidFill>
                  <a:srgbClr val="1A1A1A"/>
                </a:solidFill>
                <a:latin typeface="Inter"/>
              </a:rPr>
              <a:t>PL red-shift is tail-dominated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1801368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5A5A5A"/>
                </a:solidFill>
                <a:latin typeface="Inter"/>
              </a:rPr>
              <a:t>I-rich distribution tail + funneling explain PL better than average composition.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2487168"/>
            <a:ext cx="2788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Inter"/>
              </a:rPr>
              <a:t>Decision: β_tail &lt; 0; 95% CI excludes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234440"/>
            <a:ext cx="5175504" cy="19568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139903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Inter"/>
              </a:rPr>
              <a:t>H2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64807" y="1737360"/>
            <a:ext cx="1691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59" y="1828800"/>
            <a:ext cx="154533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C00000"/>
                </a:solidFill>
                <a:latin typeface="Inter"/>
              </a:rPr>
              <a:t>FIG-H2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2212848"/>
            <a:ext cx="14721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A5A5A"/>
                </a:solidFill>
                <a:latin typeface="Inter"/>
              </a:rPr>
              <a:t>DROP LITERATURE FIGURE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734056"/>
            <a:ext cx="1545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0" i="0">
                <a:solidFill>
                  <a:srgbClr val="5A5A5A"/>
                </a:solidFill>
                <a:latin typeface="Inter"/>
              </a:rPr>
              <a:t>Tang et al. 2018, Fig.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1435608"/>
            <a:ext cx="2788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 i="0">
                <a:solidFill>
                  <a:srgbClr val="1A1A1A"/>
                </a:solidFill>
                <a:latin typeface="Inter"/>
              </a:rPr>
              <a:t>CPD anomaly can be a precursor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1801368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5A5A5A"/>
                </a:solidFill>
                <a:latin typeface="Inter"/>
              </a:rPr>
              <a:t>Local electrostatic anomalies may appear before PL hotspots in the same ROI.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2487168"/>
            <a:ext cx="2788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Inter"/>
              </a:rPr>
              <a:t>Decision: P(t_CPD &lt; t_PL) &gt; 0.5 + 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493008"/>
            <a:ext cx="5175504" cy="19568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36576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Inter"/>
              </a:rPr>
              <a:t>H3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" y="3995928"/>
            <a:ext cx="1691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4087368"/>
            <a:ext cx="154533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C00000"/>
                </a:solidFill>
                <a:latin typeface="Inter"/>
              </a:rPr>
              <a:t>FIG-H3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5" y="4471416"/>
            <a:ext cx="14721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A5A5A"/>
                </a:solidFill>
                <a:latin typeface="Inter"/>
              </a:rPr>
              <a:t>DROP LITERATURE FIGURE 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992624"/>
            <a:ext cx="1545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0" i="0">
                <a:solidFill>
                  <a:srgbClr val="5A5A5A"/>
                </a:solidFill>
                <a:latin typeface="Inter"/>
              </a:rPr>
              <a:t>Hoke et al. 2015, Fig. 2c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0632" y="3694176"/>
            <a:ext cx="2788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 i="0">
                <a:solidFill>
                  <a:srgbClr val="1A1A1A"/>
                </a:solidFill>
                <a:latin typeface="Inter"/>
              </a:rPr>
              <a:t>Optical recovery ≠ physical 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70632" y="4059936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5A5A5A"/>
                </a:solidFill>
                <a:latin typeface="Inter"/>
              </a:rPr>
              <a:t>PL recovery may hide residual defect/chemical memory after illumination.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70632" y="4745736"/>
            <a:ext cx="2788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Inter"/>
              </a:rPr>
              <a:t>Decision: |log10 K_state| &gt; 1 after PL recovery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493008"/>
            <a:ext cx="5175504" cy="19568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64807" y="36576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Inter"/>
              </a:rPr>
              <a:t>H4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64807" y="3995928"/>
            <a:ext cx="1691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59" y="4087368"/>
            <a:ext cx="154533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C00000"/>
                </a:solidFill>
                <a:latin typeface="Inter"/>
              </a:rPr>
              <a:t>FIG-H4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74536" y="4471416"/>
            <a:ext cx="14721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A5A5A"/>
                </a:solidFill>
                <a:latin typeface="Inter"/>
              </a:rPr>
              <a:t>DROP LITERATURE FIGURE HERE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59" y="4992624"/>
            <a:ext cx="1545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0" i="0">
                <a:solidFill>
                  <a:srgbClr val="5A5A5A"/>
                </a:solidFill>
                <a:latin typeface="Inter"/>
              </a:rPr>
              <a:t>Zhao et al. 2020, Fig.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1" y="3694176"/>
            <a:ext cx="2788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 i="0">
                <a:solidFill>
                  <a:srgbClr val="1A1A1A"/>
                </a:solidFill>
                <a:latin typeface="Inter"/>
              </a:rPr>
              <a:t>Boundary dependence is mechanistic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1" y="4059936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5A5A5A"/>
                </a:solidFill>
                <a:latin typeface="Inter"/>
              </a:rPr>
              <a:t>I-rich locations depend on strain/GB conditions, not only global composition.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1" y="4745736"/>
            <a:ext cx="2788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Inter"/>
              </a:rPr>
              <a:t>Decision: regime map changes with GB/strain class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" y="5897880"/>
            <a:ext cx="10149840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88720" y="6007608"/>
            <a:ext cx="9784080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A5A5A"/>
                </a:solidFill>
                <a:latin typeface="Inter"/>
              </a:rPr>
              <a:t>Together H1–H4 separate composition tails, electrostatic precursors, hidden memory, and boundary/strain dependence—four mechanisms that can produce similar PL signatures.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11155680" cy="38404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A4D7E"/>
                </a:solidFill>
                <a:latin typeface="Calibri"/>
              </a:rPr>
              <a:t>10. Three-year plan: milestones and decision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547104"/>
            <a:ext cx="68580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6666"/>
                </a:solidFill>
                <a:latin typeface="Calibri"/>
              </a:rPr>
              <a:t>11/12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66928"/>
            <a:ext cx="1078992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Simplified Gantt: Year 1 builds state-locking; Year 2 closes same-ROI chemistry; Year 3 generalizes the mechanism map.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88920" y="1143000"/>
            <a:ext cx="2791968" cy="384048"/>
          </a:xfrm>
          <a:prstGeom prst="rect">
            <a:avLst/>
          </a:prstGeom>
          <a:solidFill>
            <a:srgbClr val="1A4D7E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26079" y="1243584"/>
            <a:ext cx="2545080" cy="1280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Calibri"/>
              </a:rPr>
              <a:t>Year 1: establish 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8320" y="1143000"/>
            <a:ext cx="2791968" cy="384048"/>
          </a:xfrm>
          <a:prstGeom prst="rect">
            <a:avLst/>
          </a:prstGeom>
          <a:solidFill>
            <a:srgbClr val="E8F0F7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45480" y="1243584"/>
            <a:ext cx="2545080" cy="1280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19" b="1">
                <a:solidFill>
                  <a:srgbClr val="1A4D7E"/>
                </a:solidFill>
                <a:latin typeface="Calibri"/>
              </a:rPr>
              <a:t>Year 2: close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8427720" y="1143000"/>
            <a:ext cx="2791968" cy="384048"/>
          </a:xfrm>
          <a:prstGeom prst="rect">
            <a:avLst/>
          </a:prstGeom>
          <a:solidFill>
            <a:srgbClr val="E8F0F7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64880" y="1243584"/>
            <a:ext cx="2545080" cy="1280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19" b="1">
                <a:solidFill>
                  <a:srgbClr val="1A4D7E"/>
                </a:solidFill>
                <a:latin typeface="Calibri"/>
              </a:rPr>
              <a:t>Year 3: generalize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1636776"/>
            <a:ext cx="438912" cy="1371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750" b="0">
                <a:solidFill>
                  <a:srgbClr val="666666"/>
                </a:solidFill>
                <a:latin typeface="Calibri"/>
              </a:rPr>
              <a:t>M1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8362" y="1636776"/>
            <a:ext cx="438912" cy="1371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750" b="0">
                <a:solidFill>
                  <a:srgbClr val="666666"/>
                </a:solidFill>
                <a:latin typeface="Calibri"/>
              </a:rPr>
              <a:t>M6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8339" y="1636776"/>
            <a:ext cx="438912" cy="1371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750" b="0">
                <a:solidFill>
                  <a:srgbClr val="666666"/>
                </a:solidFill>
                <a:latin typeface="Calibri"/>
              </a:rPr>
              <a:t>M12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8316" y="1636776"/>
            <a:ext cx="438912" cy="1371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750" b="0">
                <a:solidFill>
                  <a:srgbClr val="666666"/>
                </a:solidFill>
                <a:latin typeface="Calibri"/>
              </a:rPr>
              <a:t>M18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8293" y="1636776"/>
            <a:ext cx="438912" cy="1371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750" b="0">
                <a:solidFill>
                  <a:srgbClr val="666666"/>
                </a:solidFill>
                <a:latin typeface="Calibri"/>
              </a:rPr>
              <a:t>M24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78270" y="1636776"/>
            <a:ext cx="438912" cy="1371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750" b="0">
                <a:solidFill>
                  <a:srgbClr val="666666"/>
                </a:solidFill>
                <a:latin typeface="Calibri"/>
              </a:rPr>
              <a:t>M30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28248" y="1636776"/>
            <a:ext cx="438912" cy="1371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750" b="0">
                <a:solidFill>
                  <a:srgbClr val="666666"/>
                </a:solidFill>
                <a:latin typeface="Calibri"/>
              </a:rPr>
              <a:t>M36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194560"/>
            <a:ext cx="713232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150" b="1">
                <a:solidFill>
                  <a:srgbClr val="1A4D7E"/>
                </a:solidFill>
                <a:latin typeface="Calibri"/>
              </a:rPr>
              <a:t>Aim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121408"/>
            <a:ext cx="150876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880" b="0">
                <a:solidFill>
                  <a:srgbClr val="333333"/>
                </a:solidFill>
                <a:latin typeface="Calibri"/>
              </a:rPr>
              <a:t>State writing &amp; locking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2057400"/>
            <a:ext cx="2658291" cy="438912"/>
          </a:xfrm>
          <a:prstGeom prst="roundRect">
            <a:avLst/>
          </a:prstGeom>
          <a:solidFill>
            <a:srgbClr val="F7F9FC"/>
          </a:solidFill>
          <a:ln w="11430">
            <a:solidFill>
              <a:srgbClr val="1A4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80360" y="2157984"/>
            <a:ext cx="2475411" cy="1371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869" b="0">
                <a:solidFill>
                  <a:srgbClr val="333333"/>
                </a:solidFill>
                <a:latin typeface="Calibri"/>
              </a:rPr>
              <a:t>S0–S5 protocol; drift bound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38651" y="2103120"/>
            <a:ext cx="1508760" cy="3200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A4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84371" y="2194560"/>
            <a:ext cx="1417319" cy="914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790" b="1">
                <a:solidFill>
                  <a:srgbClr val="1A4D7E"/>
                </a:solidFill>
                <a:latin typeface="Calibri"/>
              </a:rPr>
              <a:t>Decision: drift &lt;20%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063240"/>
            <a:ext cx="713232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150" b="1">
                <a:solidFill>
                  <a:srgbClr val="2D6A4F"/>
                </a:solidFill>
                <a:latin typeface="Calibri"/>
              </a:rPr>
              <a:t>Aim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2990088"/>
            <a:ext cx="150876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880" b="0">
                <a:solidFill>
                  <a:srgbClr val="333333"/>
                </a:solidFill>
                <a:latin typeface="Calibri"/>
              </a:rPr>
              <a:t>same-ROI PL/KPFM → SIMS/XPS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88874" y="2926080"/>
            <a:ext cx="2658291" cy="438912"/>
          </a:xfrm>
          <a:prstGeom prst="roundRect">
            <a:avLst/>
          </a:prstGeom>
          <a:solidFill>
            <a:srgbClr val="F7F9FC"/>
          </a:solidFill>
          <a:ln w="1143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80314" y="3026664"/>
            <a:ext cx="2475411" cy="1371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869" b="0">
                <a:solidFill>
                  <a:srgbClr val="333333"/>
                </a:solidFill>
                <a:latin typeface="Calibri"/>
              </a:rPr>
              <a:t>Registered dynamic-to-endpoint maps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38605" y="2971800"/>
            <a:ext cx="1143000" cy="3200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84325" y="3063240"/>
            <a:ext cx="1051560" cy="914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790" b="1">
                <a:solidFill>
                  <a:srgbClr val="2D6A4F"/>
                </a:solidFill>
                <a:latin typeface="Calibri"/>
              </a:rPr>
              <a:t>Paper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931920"/>
            <a:ext cx="713232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150" b="1">
                <a:solidFill>
                  <a:srgbClr val="D62828"/>
                </a:solidFill>
                <a:latin typeface="Calibri"/>
              </a:rPr>
              <a:t>Aim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3858768"/>
            <a:ext cx="150876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880" b="0">
                <a:solidFill>
                  <a:srgbClr val="333333"/>
                </a:solidFill>
                <a:latin typeface="Calibri"/>
              </a:rPr>
              <a:t>strain / disorder / degradation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3794760"/>
            <a:ext cx="2174965" cy="438912"/>
          </a:xfrm>
          <a:prstGeom prst="roundRect">
            <a:avLst/>
          </a:prstGeom>
          <a:solidFill>
            <a:srgbClr val="F7F9FC"/>
          </a:solidFill>
          <a:ln w="1143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55279" y="3895344"/>
            <a:ext cx="1992085" cy="1371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869" b="0">
                <a:solidFill>
                  <a:srgbClr val="333333"/>
                </a:solidFill>
                <a:latin typeface="Calibri"/>
              </a:rPr>
              <a:t>GIWAXS + Raman + XPS chemical states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30245" y="3840480"/>
            <a:ext cx="1143000" cy="3200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75965" y="3931920"/>
            <a:ext cx="1051560" cy="914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790" b="1">
                <a:solidFill>
                  <a:srgbClr val="D62828"/>
                </a:solidFill>
                <a:latin typeface="Calibri"/>
              </a:rPr>
              <a:t>Paper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800600"/>
            <a:ext cx="713232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150" b="1">
                <a:solidFill>
                  <a:srgbClr val="8A5A00"/>
                </a:solidFill>
                <a:latin typeface="Calibri"/>
              </a:rPr>
              <a:t>Aim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4727448"/>
            <a:ext cx="150876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880" b="0">
                <a:solidFill>
                  <a:srgbClr val="333333"/>
                </a:solidFill>
                <a:latin typeface="Calibri"/>
              </a:rPr>
              <a:t>composition / passivation / interface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13817" y="4663440"/>
            <a:ext cx="1933302" cy="438912"/>
          </a:xfrm>
          <a:prstGeom prst="roundRect">
            <a:avLst/>
          </a:prstGeom>
          <a:solidFill>
            <a:srgbClr val="F7F9FC"/>
          </a:solidFill>
          <a:ln w="11430">
            <a:solidFill>
              <a:srgbClr val="8A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05257" y="4764024"/>
            <a:ext cx="1750422" cy="1371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869" b="0">
                <a:solidFill>
                  <a:srgbClr val="333333"/>
                </a:solidFill>
                <a:latin typeface="Calibri"/>
              </a:rPr>
              <a:t>Transfer tests → regime diagram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650992"/>
            <a:ext cx="3429000" cy="594360"/>
          </a:xfrm>
          <a:prstGeom prst="roundRect">
            <a:avLst/>
          </a:prstGeom>
          <a:solidFill>
            <a:srgbClr val="FEF4F4"/>
          </a:solidFill>
          <a:ln w="1143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5833872"/>
            <a:ext cx="1051560" cy="1188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80" b="1">
                <a:solidFill>
                  <a:srgbClr val="D62828"/>
                </a:solidFill>
                <a:latin typeface="Calibri"/>
              </a:rPr>
              <a:t>Gate 1 / end Y1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38528" y="5824728"/>
            <a:ext cx="1965960" cy="1280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Calibri"/>
              </a:rPr>
              <a:t>Lock S0–S5; estimate J and drift budget.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80560" y="5650992"/>
            <a:ext cx="3337560" cy="594360"/>
          </a:xfrm>
          <a:prstGeom prst="roundRect">
            <a:avLst/>
          </a:prstGeom>
          <a:solidFill>
            <a:srgbClr val="F7F9FC"/>
          </a:solidFill>
          <a:ln w="1143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63440" y="5833872"/>
            <a:ext cx="1051560" cy="1188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80" b="1">
                <a:solidFill>
                  <a:srgbClr val="2D6A4F"/>
                </a:solidFill>
                <a:latin typeface="Calibri"/>
              </a:rPr>
              <a:t>Gate 2 / end Y2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41848" y="5769864"/>
            <a:ext cx="192024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830" b="0">
                <a:solidFill>
                  <a:srgbClr val="333333"/>
                </a:solidFill>
                <a:latin typeface="Calibri"/>
              </a:rPr>
              <a:t>Require κ &lt; 100; if κ &gt; 1000, redesign probes/model.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5650992"/>
            <a:ext cx="3337560" cy="594360"/>
          </a:xfrm>
          <a:prstGeom prst="roundRect">
            <a:avLst/>
          </a:prstGeom>
          <a:solidFill>
            <a:srgbClr val="F2F6FA"/>
          </a:solidFill>
          <a:ln w="11430">
            <a:solidFill>
              <a:srgbClr val="1A4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75320" y="5833872"/>
            <a:ext cx="822960" cy="1188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80" b="1">
                <a:solidFill>
                  <a:srgbClr val="1A4D7E"/>
                </a:solidFill>
                <a:latin typeface="Calibri"/>
              </a:rPr>
              <a:t>Final 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70848" y="5824728"/>
            <a:ext cx="2148840" cy="1280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Calibri"/>
              </a:rPr>
              <a:t>Regime diagram + posterior uncertainty, not hard labels.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658FEBE-0997-DAA1-74F6-F0A1989C9ECE}"/>
              </a:ext>
            </a:extLst>
          </p:cNvPr>
          <p:cNvSpPr txBox="1"/>
          <p:nvPr/>
        </p:nvSpPr>
        <p:spPr>
          <a:xfrm>
            <a:off x="1485900" y="3483864"/>
            <a:ext cx="9181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highlight>
                  <a:srgbClr val="FFFF00"/>
                </a:highlight>
              </a:rPr>
              <a:t>调整字体大小，启动自动换行，注意字体不要重叠或遮挡其他区域</a:t>
            </a:r>
            <a:endParaRPr kumimoji="1" lang="en-US" altLang="zh-CN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28016"/>
            <a:ext cx="11155680" cy="384048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2200" b="1">
                <a:solidFill/>
                <a:latin typeface="Calibri"/>
              </a:rPr>
              <a:t>11. Expected outputs, feasibility, and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155680" cy="310896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Calibri"/>
              </a:rPr>
              <a:t>The expected product is a mechanism regime diagram, not just a collection of characterization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65392"/>
            <a:ext cx="594360" cy="18288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r"/>
            <a:r>
              <a:rPr sz="850" b="0" i="0">
                <a:solidFill>
                  <a:srgbClr val="666666"/>
                </a:solidFill>
                <a:latin typeface="Calibri"/>
              </a:rPr>
              <a:t>12/12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3474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1188720"/>
            <a:ext cx="3218687" cy="22860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300" b="1" i="0">
                <a:solidFill>
                  <a:srgbClr val="1A4D7E"/>
                </a:solidFill>
                <a:latin typeface="Calibri"/>
              </a:rPr>
              <a:t>Paper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481328"/>
            <a:ext cx="3218687" cy="68580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30" b="0" i="0">
                <a:solidFill>
                  <a:srgbClr val="333333"/>
                </a:solidFill>
                <a:latin typeface="Calibri"/>
              </a:rPr>
              <a:t>State-locked correlative PL/KPFM/TOF-SIMS/XPS mapping of PIPS in WBG perovskites.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097280"/>
            <a:ext cx="3474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71416" y="1188720"/>
            <a:ext cx="3218687" cy="22860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  <a:latin typeface="Calibri"/>
              </a:rPr>
              <a:t>Paper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1416" y="1481328"/>
            <a:ext cx="3218687" cy="68580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30" b="0" i="0">
                <a:solidFill>
                  <a:srgbClr val="333333"/>
                </a:solidFill>
                <a:latin typeface="Calibri"/>
              </a:rPr>
              <a:t>Multi-mechanism decoupling of composition, electrostatics, strain memory and irreversible degradation.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097280"/>
            <a:ext cx="3474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0456" y="1188720"/>
            <a:ext cx="3218687" cy="22860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300" b="1" i="0">
                <a:solidFill>
                  <a:srgbClr val="D62828"/>
                </a:solidFill>
                <a:latin typeface="Calibri"/>
              </a:rPr>
              <a:t>Final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1481328"/>
            <a:ext cx="3218687" cy="68580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30" b="0" i="0">
                <a:solidFill>
                  <a:srgbClr val="333333"/>
                </a:solidFill>
                <a:latin typeface="Calibri"/>
              </a:rPr>
              <a:t>Mechanism regime diagram: when each contribution dominates and how to design around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761488"/>
            <a:ext cx="2926080" cy="237744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500" b="1" i="0">
                <a:solidFill>
                  <a:srgbClr val="1A4D7E"/>
                </a:solidFill>
                <a:latin typeface="Calibri"/>
              </a:rPr>
              <a:t>Main risks and fallback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82112"/>
            <a:ext cx="1143000" cy="16459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50" b="1" i="0">
                <a:solidFill>
                  <a:srgbClr val="D62828"/>
                </a:solidFill>
                <a:latin typeface="Calibri"/>
              </a:rPr>
              <a:t>State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172968"/>
            <a:ext cx="4343400" cy="201168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Quantify drift upper bound; use delay-calibrated state matching.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76472"/>
            <a:ext cx="1143000" cy="16459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50" b="1" i="0">
                <a:solidFill>
                  <a:srgbClr val="D62828"/>
                </a:solidFill>
                <a:latin typeface="Calibri"/>
              </a:rPr>
              <a:t>Registration failure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767328"/>
            <a:ext cx="4343400" cy="201168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Report scale-aware error budget; analyze robust ROI-level statistics.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70832"/>
            <a:ext cx="1143000" cy="16459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50" b="1" i="0">
                <a:solidFill>
                  <a:srgbClr val="D62828"/>
                </a:solidFill>
                <a:latin typeface="Calibri"/>
              </a:rPr>
              <a:t>Non-identifiability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361688"/>
            <a:ext cx="4343400" cy="201168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Use Jacobian/SVD to redesign probe set or state a negative result clearly.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761488"/>
            <a:ext cx="3291840" cy="237744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500" b="1" i="0">
                <a:solidFill>
                  <a:srgbClr val="1A4D7E"/>
                </a:solidFill>
                <a:latin typeface="Calibri"/>
              </a:rPr>
              <a:t>Why this applicant is a good 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182112"/>
            <a:ext cx="1645920" cy="16459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50" b="1" i="0">
                <a:solidFill>
                  <a:srgbClr val="2D6A4F"/>
                </a:solidFill>
                <a:latin typeface="Calibri"/>
              </a:rPr>
              <a:t>Perovskite 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172968"/>
            <a:ext cx="2743200" cy="201168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EIP deposition and film-process background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776472"/>
            <a:ext cx="1645920" cy="16459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50" b="1" i="0">
                <a:solidFill>
                  <a:srgbClr val="2D6A4F"/>
                </a:solidFill>
                <a:latin typeface="Calibri"/>
              </a:rPr>
              <a:t>Instrumentation literacy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767328"/>
            <a:ext cx="2743200" cy="201168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XPS analyzer R&amp;D and measurement-awareness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370832"/>
            <a:ext cx="1645920" cy="16459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50" b="1" i="0">
                <a:solidFill>
                  <a:srgbClr val="2D6A4F"/>
                </a:solidFill>
                <a:latin typeface="Calibri"/>
              </a:rPr>
              <a:t>PV application 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361688"/>
            <a:ext cx="2743200" cy="201168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Utility-scale PV design and bankability perspective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193792"/>
            <a:ext cx="10332720" cy="566928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5358384"/>
            <a:ext cx="1554480" cy="18288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150" b="1" i="0">
                <a:solidFill>
                  <a:srgbClr val="1A4D7E"/>
                </a:solidFill>
                <a:latin typeface="Calibri"/>
              </a:rPr>
              <a:t>Take-home message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330952"/>
            <a:ext cx="8138160" cy="21031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880">
                <a:solidFill>
                  <a:srgbClr val="5A5A5A"/>
                </a:solidFill>
                <a:latin typeface="Calibri"/>
              </a:rPr>
              <a:t>Not first PIPS observation or first frozen ion map; </a:t>
            </a:r>
          </a:p>
          <a:p>
            <a:pPr>
              <a:spcBef>
                <a:spcPts val="100"/>
              </a:spcBef>
            </a:pPr>
            <a:r>
              <a:rPr sz="880" b="1">
                <a:solidFill>
                  <a:srgbClr val="333333"/>
                </a:solidFill>
                <a:latin typeface="Calibri"/>
              </a:rPr>
              <a:t>the contribution is state-locked, artifact-aware inference across optical/electrostatic/chemical/structural projections.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053328"/>
            <a:ext cx="10058400" cy="16459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ctr"/>
            <a:r>
              <a:rPr sz="850" b="0">
                <a:solidFill>
                  <a:srgbClr val="5A5A5A"/>
                </a:solidFill>
                <a:latin typeface="Calibri"/>
              </a:rPr>
              <a:t>Key references: Hoke 2015; Brivio 2016; Bischak 2017; Chen 2021; Peng 2023; Fan 2025.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6291072"/>
            <a:ext cx="1554480" cy="201168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ctr"/>
            <a:r>
              <a:rPr sz="1400" b="1" i="0">
                <a:solidFill>
                  <a:srgbClr val="1A4D7E"/>
                </a:solidFill>
                <a:latin typeface="Calibri"/>
              </a:rPr>
              <a:t>Thank you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C48CEC4-E5DE-ACEF-03C2-1B9EA0FCC324}"/>
              </a:ext>
            </a:extLst>
          </p:cNvPr>
          <p:cNvSpPr txBox="1"/>
          <p:nvPr/>
        </p:nvSpPr>
        <p:spPr>
          <a:xfrm>
            <a:off x="1699555" y="2403086"/>
            <a:ext cx="9181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highlight>
                  <a:srgbClr val="FFFF00"/>
                </a:highlight>
              </a:rPr>
              <a:t>调整字体大小，启动自动换行，注意字体不要重叠或遮挡其他区域，预留插图位置，这里我会通过</a:t>
            </a:r>
            <a:r>
              <a:rPr kumimoji="1" lang="en-US" altLang="zh-CN" b="1" dirty="0">
                <a:highlight>
                  <a:srgbClr val="FFFF00"/>
                </a:highlight>
              </a:rPr>
              <a:t>AI</a:t>
            </a:r>
            <a:r>
              <a:rPr kumimoji="1" lang="zh-CN" altLang="en-US" b="1" dirty="0">
                <a:highlight>
                  <a:srgbClr val="FFFF00"/>
                </a:highlight>
              </a:rPr>
              <a:t>制作图片来展示预期结果</a:t>
            </a:r>
            <a:endParaRPr kumimoji="1" lang="en-US" altLang="zh-CN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5006267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2517</Words>
  <Application>Microsoft Office PowerPoint</Application>
  <PresentationFormat>宽屏</PresentationFormat>
  <Paragraphs>331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Inter</vt:lpstr>
      <vt:lpstr>Source Serif 4</vt:lpstr>
      <vt:lpstr>游ゴシック</vt:lpstr>
      <vt:lpstr>Arial</vt:lpstr>
      <vt:lpstr>Calibri</vt:lpstr>
      <vt:lpstr>Cambria Math</vt:lpstr>
      <vt:lpstr>Consolas</vt:lpstr>
      <vt:lpstr>Courier New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Jones</dc:creator>
  <cp:lastModifiedBy>林伟业</cp:lastModifiedBy>
  <cp:revision>54</cp:revision>
  <dcterms:created xsi:type="dcterms:W3CDTF">2023-08-09T12:44:00Z</dcterms:created>
  <dcterms:modified xsi:type="dcterms:W3CDTF">2026-05-13T06:48:20Z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E42398D58FD6458A9D6686A65266018B_13</vt:lpwstr>
  </property>
</Properties>
</file>