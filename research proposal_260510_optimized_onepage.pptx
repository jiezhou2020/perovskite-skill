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13816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2746"/>
                </a:solidFill>
                <a:latin typeface="Aptos"/>
              </a:rPr>
              <a:t>Past Research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81381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0"/>
                </a:solidFill>
                <a:latin typeface="Aptos"/>
              </a:rPr>
              <a:t>EIP film fabrication experience feeding into phase-segregation mechanism decoupling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292608"/>
            <a:ext cx="2057400" cy="310896"/>
          </a:xfrm>
          <a:prstGeom prst="roundRect">
            <a:avLst/>
          </a:prstGeom>
          <a:solidFill>
            <a:srgbClr val="192746"/>
          </a:solidFill>
          <a:ln>
            <a:solidFill>
              <a:srgbClr val="192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Research Proposal · Lin Weiye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11384280" cy="18288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34440"/>
            <a:ext cx="19659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92746"/>
                </a:solidFill>
                <a:latin typeface="Aptos"/>
              </a:rPr>
              <a:t>Trajectory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1627632"/>
            <a:ext cx="22860" cy="4251960"/>
          </a:xfrm>
          <a:prstGeom prst="rect">
            <a:avLst/>
          </a:prstGeom>
          <a:solidFill>
            <a:srgbClr val="DCE1E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0352" y="1636776"/>
            <a:ext cx="219456" cy="219456"/>
          </a:xfrm>
          <a:prstGeom prst="ellipse">
            <a:avLst/>
          </a:prstGeom>
          <a:solidFill>
            <a:srgbClr val="1F837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837B"/>
                </a:solidFill>
                <a:latin typeface="Aptos"/>
              </a:rP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1920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2262E"/>
                </a:solidFill>
                <a:latin typeface="Aptos"/>
              </a:rPr>
              <a:t>Remote learning &amp; process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9424"/>
            <a:ext cx="1874519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9" b="0">
                <a:solidFill>
                  <a:srgbClr val="667080"/>
                </a:solidFill>
                <a:latin typeface="Aptos"/>
              </a:rPr>
              <a:t>Designed an actionable EIP optimization plan.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" y="2862072"/>
            <a:ext cx="219456" cy="219456"/>
          </a:xfrm>
          <a:prstGeom prst="ellipse">
            <a:avLst/>
          </a:prstGeom>
          <a:solidFill>
            <a:srgbClr val="BC3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98064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C3A4A"/>
                </a:solidFill>
                <a:latin typeface="Aptos"/>
              </a:rPr>
              <a:t>2022–23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1920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2262E"/>
                </a:solidFill>
                <a:latin typeface="Aptos"/>
              </a:rPr>
              <a:t>Electrostatic spray fabrication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74720"/>
            <a:ext cx="1874519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9" b="0">
                <a:solidFill>
                  <a:srgbClr val="667080"/>
                </a:solidFill>
                <a:latin typeface="Aptos"/>
              </a:rPr>
              <a:t>Prepared ~1 µm MAPbI3 films; validated by XRD and cross-section SEM.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" y="4306824"/>
            <a:ext cx="219456" cy="219456"/>
          </a:xfrm>
          <a:prstGeom prst="ellipse">
            <a:avLst/>
          </a:prstGeom>
          <a:solidFill>
            <a:srgbClr val="588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42816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88A4A"/>
                </a:solidFill>
                <a:latin typeface="Aptos"/>
              </a:rPr>
              <a:t>2023–24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920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2262E"/>
                </a:solidFill>
                <a:latin typeface="Aptos"/>
              </a:rPr>
              <a:t>From lab to industry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19472"/>
            <a:ext cx="1874519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9" b="0">
                <a:solidFill>
                  <a:srgbClr val="667080"/>
                </a:solidFill>
                <a:latin typeface="Aptos"/>
              </a:rPr>
              <a:t>Translated thin-film experience into scalable process thinking.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98464"/>
            <a:ext cx="2176272" cy="438912"/>
          </a:xfrm>
          <a:prstGeom prst="roundRect">
            <a:avLst/>
          </a:prstGeom>
          <a:solidFill>
            <a:srgbClr val="FFF6F8"/>
          </a:solidFill>
          <a:ln>
            <a:solidFill>
              <a:srgbClr val="ECC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50" b="1">
                <a:solidFill>
                  <a:srgbClr val="BC3A4A"/>
                </a:solidFill>
                <a:latin typeface="Aptos"/>
              </a:rPr>
              <a:t>Review article · 52 citations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1225296"/>
            <a:ext cx="8458200" cy="2148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392" y="1353312"/>
            <a:ext cx="812901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92746"/>
                </a:solidFill>
                <a:latin typeface="Aptos"/>
              </a:rPr>
              <a:t>EIP fabrication platform and tunable processing window</a:t>
            </a:r>
          </a:p>
        </p:txBody>
      </p:sp>
      <p:pic>
        <p:nvPicPr>
          <p:cNvPr id="23" name="Picture 22" descr="slide3_pi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572768"/>
            <a:ext cx="7818120" cy="12984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218688" y="3017520"/>
            <a:ext cx="1069848" cy="219456"/>
          </a:xfrm>
          <a:prstGeom prst="roundRect">
            <a:avLst/>
          </a:prstGeom>
          <a:solidFill>
            <a:srgbClr val="1F837B"/>
          </a:solidFill>
          <a:ln>
            <a:solidFill>
              <a:srgbClr val="1F8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Flow 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017520"/>
            <a:ext cx="1069848" cy="219456"/>
          </a:xfrm>
          <a:prstGeom prst="roundRect">
            <a:avLst/>
          </a:prstGeom>
          <a:solidFill>
            <a:srgbClr val="1F837B"/>
          </a:solidFill>
          <a:ln>
            <a:solidFill>
              <a:srgbClr val="1F8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Nozzle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42431" y="3017520"/>
            <a:ext cx="1069848" cy="219456"/>
          </a:xfrm>
          <a:prstGeom prst="roundRect">
            <a:avLst/>
          </a:prstGeom>
          <a:solidFill>
            <a:srgbClr val="BC3A4A"/>
          </a:solidFill>
          <a:ln>
            <a:solidFill>
              <a:srgbClr val="BC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Humidity / N2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04304" y="3017520"/>
            <a:ext cx="1069848" cy="219456"/>
          </a:xfrm>
          <a:prstGeom prst="roundRect">
            <a:avLst/>
          </a:prstGeom>
          <a:solidFill>
            <a:srgbClr val="BC3A4A"/>
          </a:solidFill>
          <a:ln>
            <a:solidFill>
              <a:srgbClr val="BC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Voltage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5" y="3017520"/>
            <a:ext cx="1069848" cy="219456"/>
          </a:xfrm>
          <a:prstGeom prst="roundRect">
            <a:avLst/>
          </a:prstGeom>
          <a:solidFill>
            <a:srgbClr val="588A4A"/>
          </a:solidFill>
          <a:ln>
            <a:solidFill>
              <a:srgbClr val="58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Temperature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28048" y="3017520"/>
            <a:ext cx="1069848" cy="219456"/>
          </a:xfrm>
          <a:prstGeom prst="roundRect">
            <a:avLst/>
          </a:prstGeom>
          <a:solidFill>
            <a:srgbClr val="588A4A"/>
          </a:solidFill>
          <a:ln>
            <a:solidFill>
              <a:srgbClr val="58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Working distance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3639312"/>
            <a:ext cx="4892040" cy="2505456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36392" y="3767328"/>
            <a:ext cx="456285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837B"/>
                </a:solidFill>
                <a:latin typeface="Aptos"/>
              </a:rPr>
              <a:t>Film quality evidence</a:t>
            </a:r>
          </a:p>
        </p:txBody>
      </p:sp>
      <p:pic>
        <p:nvPicPr>
          <p:cNvPr id="32" name="Picture 31" descr="x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4023360"/>
            <a:ext cx="1993392" cy="1124712"/>
          </a:xfrm>
          <a:prstGeom prst="rect">
            <a:avLst/>
          </a:prstGeom>
        </p:spPr>
      </p:pic>
      <p:pic>
        <p:nvPicPr>
          <p:cNvPr id="33" name="Picture 32" descr="s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4023360"/>
            <a:ext cx="2176272" cy="11247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218688" y="5321808"/>
            <a:ext cx="4343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19" b="0">
                <a:solidFill>
                  <a:srgbClr val="22262E"/>
                </a:solidFill>
                <a:latin typeface="Aptos"/>
              </a:rPr>
              <a:t>XRD confirms perovskite phase formation; cross-section SEM shows compact ~1 µm film morphology.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3639312"/>
            <a:ext cx="3337560" cy="2505456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1" y="3767328"/>
            <a:ext cx="300837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C3A4A"/>
                </a:solidFill>
                <a:latin typeface="Aptos"/>
              </a:rPr>
              <a:t>Next characterization logic</a:t>
            </a:r>
          </a:p>
        </p:txBody>
      </p:sp>
      <p:pic>
        <p:nvPicPr>
          <p:cNvPr id="37" name="Picture 36" descr="slide3_pi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4014215"/>
            <a:ext cx="1417320" cy="1060704"/>
          </a:xfrm>
          <a:prstGeom prst="rect">
            <a:avLst/>
          </a:prstGeom>
        </p:spPr>
      </p:pic>
      <p:pic>
        <p:nvPicPr>
          <p:cNvPr id="38" name="Picture 37" descr="slide3_pi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2" y="3931920"/>
            <a:ext cx="1097280" cy="10972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75320" y="5248656"/>
            <a:ext cx="278892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60" b="0">
                <a:solidFill>
                  <a:srgbClr val="22262E"/>
                </a:solidFill>
                <a:latin typeface="Aptos"/>
              </a:rPr>
              <a:t>Use XPS / PL mapping / SEM-EDS to separate ion migration, trap-state evolution, and phase segregation.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547104"/>
            <a:ext cx="20116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40" b="1">
                <a:solidFill>
                  <a:srgbClr val="667080"/>
                </a:solidFill>
                <a:latin typeface="Aptos"/>
              </a:rPr>
              <a:t>LIN WEIYE · RESEARCH PROPOSAL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17352" y="6547104"/>
            <a:ext cx="96012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40" b="0">
                <a:solidFill>
                  <a:srgbClr val="667080"/>
                </a:solidFill>
                <a:latin typeface="Aptos"/>
              </a:rPr>
              <a:t>Optimized one-page 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