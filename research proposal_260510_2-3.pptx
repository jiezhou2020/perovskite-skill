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まず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ペロブスカイト</a:t>
            </a:r>
            <a:r>
              <a:rPr kumimoji="1" lang="zh-CN" altLang="en-US" dirty="0"/>
              <a:t>太陽電池</a:t>
            </a:r>
            <a:r>
              <a:rPr kumimoji="1" lang="ja-JP" altLang="en-US" dirty="0"/>
              <a:t>の</a:t>
            </a:r>
            <a:r>
              <a:rPr kumimoji="1" lang="zh-CN" altLang="en-US" dirty="0"/>
              <a:t>基本構造</a:t>
            </a:r>
            <a:r>
              <a:rPr kumimoji="1" lang="ja-JP" altLang="en-US" dirty="0"/>
              <a:t>と</a:t>
            </a:r>
            <a:r>
              <a:rPr kumimoji="1" lang="zh-CN" altLang="en-US" dirty="0"/>
              <a:t>動作原理</a:t>
            </a:r>
            <a:r>
              <a:rPr kumimoji="1" lang="ja-JP" altLang="en-US" dirty="0"/>
              <a:t>について</a:t>
            </a:r>
            <a:r>
              <a:rPr kumimoji="1" lang="zh-CN" altLang="en-US" dirty="0"/>
              <a:t>説明</a:t>
            </a:r>
            <a:r>
              <a:rPr kumimoji="1" lang="ja-JP" altLang="en-US" dirty="0"/>
              <a:t>いたします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構造</a:t>
            </a:r>
            <a:r>
              <a:rPr kumimoji="1" lang="ja-JP" altLang="en-US" dirty="0"/>
              <a:t>について、</a:t>
            </a:r>
            <a:r>
              <a:rPr kumimoji="1" lang="zh-CN" altLang="en-US" dirty="0"/>
              <a:t>左図</a:t>
            </a:r>
            <a:r>
              <a:rPr kumimoji="1" lang="ja-JP" altLang="en-US" dirty="0"/>
              <a:t>をご</a:t>
            </a:r>
            <a:r>
              <a:rPr kumimoji="1" lang="zh-CN" altLang="en-US" dirty="0"/>
              <a:t>覧</a:t>
            </a:r>
            <a:r>
              <a:rPr kumimoji="1" lang="ja-JP" altLang="en-US" dirty="0"/>
              <a:t>ください</a:t>
            </a:r>
            <a:r>
              <a:rPr kumimoji="1" lang="zh-CN" altLang="en-US" dirty="0"/>
              <a:t>。左側</a:t>
            </a:r>
            <a:r>
              <a:rPr kumimoji="1" lang="ja-JP" altLang="en-US" dirty="0"/>
              <a:t>の</a:t>
            </a:r>
            <a:r>
              <a:rPr kumimoji="1" lang="zh-CN" altLang="en-US" dirty="0"/>
              <a:t>図</a:t>
            </a:r>
            <a:r>
              <a:rPr kumimoji="1" lang="en-US" altLang="zh-CN" dirty="0"/>
              <a:t>(a)</a:t>
            </a:r>
            <a:r>
              <a:rPr kumimoji="1" lang="ja-JP" altLang="en-US" dirty="0"/>
              <a:t>と</a:t>
            </a:r>
            <a:r>
              <a:rPr kumimoji="1" lang="en-US" altLang="zh-CN" dirty="0"/>
              <a:t>(b)</a:t>
            </a:r>
            <a:r>
              <a:rPr kumimoji="1" lang="ja-JP" altLang="en-US" dirty="0"/>
              <a:t>は</a:t>
            </a:r>
            <a:r>
              <a:rPr kumimoji="1" lang="zh-CN" altLang="en-US" dirty="0"/>
              <a:t>、代表的</a:t>
            </a:r>
            <a:r>
              <a:rPr kumimoji="1" lang="ja-JP" altLang="en-US" dirty="0"/>
              <a:t>な</a:t>
            </a:r>
            <a:r>
              <a:rPr kumimoji="1" lang="en-US" altLang="zh-CN" dirty="0"/>
              <a:t>n-i-p</a:t>
            </a:r>
            <a:r>
              <a:rPr kumimoji="1" lang="zh-CN" altLang="en-US" dirty="0"/>
              <a:t>型</a:t>
            </a:r>
            <a:r>
              <a:rPr kumimoji="1" lang="ja-JP" altLang="en-US" dirty="0"/>
              <a:t>および</a:t>
            </a:r>
            <a:r>
              <a:rPr kumimoji="1" lang="en-US" altLang="zh-CN" dirty="0"/>
              <a:t>p-i-n</a:t>
            </a:r>
            <a:r>
              <a:rPr kumimoji="1" lang="zh-CN" altLang="en-US" dirty="0"/>
              <a:t>型</a:t>
            </a:r>
            <a:r>
              <a:rPr kumimoji="1" lang="ja-JP" altLang="en-US" dirty="0"/>
              <a:t>のデバイス</a:t>
            </a:r>
            <a:r>
              <a:rPr kumimoji="1" lang="zh-CN" altLang="en-US" dirty="0"/>
              <a:t>構造</a:t>
            </a:r>
            <a:r>
              <a:rPr kumimoji="1" lang="ja-JP" altLang="en-US" dirty="0"/>
              <a:t>を</a:t>
            </a:r>
            <a:r>
              <a:rPr kumimoji="1" lang="zh-CN" altLang="en-US" dirty="0"/>
              <a:t>示</a:t>
            </a:r>
            <a:r>
              <a:rPr kumimoji="1" lang="ja-JP" altLang="en-US" dirty="0"/>
              <a:t>しています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いずれの</a:t>
            </a:r>
            <a:r>
              <a:rPr kumimoji="1" lang="zh-CN" altLang="en-US" dirty="0"/>
              <a:t>場合</a:t>
            </a:r>
            <a:r>
              <a:rPr kumimoji="1" lang="ja-JP" altLang="en-US" dirty="0"/>
              <a:t>も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ペロブスカイト</a:t>
            </a:r>
            <a:r>
              <a:rPr kumimoji="1" lang="zh-CN" altLang="en-US" dirty="0"/>
              <a:t>層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光吸収層</a:t>
            </a:r>
            <a:r>
              <a:rPr kumimoji="1" lang="ja-JP" altLang="en-US" dirty="0"/>
              <a:t>として</a:t>
            </a:r>
            <a:r>
              <a:rPr kumimoji="1" lang="zh-CN" altLang="en-US" dirty="0"/>
              <a:t>機能</a:t>
            </a:r>
            <a:r>
              <a:rPr kumimoji="1" lang="ja-JP" altLang="en-US" dirty="0"/>
              <a:t>し</a:t>
            </a:r>
            <a:r>
              <a:rPr kumimoji="1" lang="zh-CN" altLang="en-US" dirty="0"/>
              <a:t>、</a:t>
            </a:r>
            <a:r>
              <a:rPr kumimoji="1" lang="en-US" altLang="zh-CN" dirty="0"/>
              <a:t>ETL </a:t>
            </a:r>
            <a:r>
              <a:rPr kumimoji="1" lang="ja-JP" altLang="en-US" dirty="0"/>
              <a:t>および</a:t>
            </a:r>
            <a:r>
              <a:rPr kumimoji="1" lang="en-US" altLang="zh-CN" dirty="0"/>
              <a:t> HTL </a:t>
            </a:r>
            <a:r>
              <a:rPr kumimoji="1" lang="ja-JP" altLang="en-US" dirty="0"/>
              <a:t>がキャリアの</a:t>
            </a:r>
            <a:r>
              <a:rPr kumimoji="1" lang="zh-CN" altLang="en-US" dirty="0"/>
              <a:t>選択的輸送</a:t>
            </a:r>
            <a:r>
              <a:rPr kumimoji="1" lang="ja-JP" altLang="en-US" dirty="0"/>
              <a:t>を</a:t>
            </a:r>
            <a:r>
              <a:rPr kumimoji="1" lang="zh-CN" altLang="en-US" dirty="0"/>
              <a:t>担</a:t>
            </a:r>
            <a:r>
              <a:rPr kumimoji="1" lang="ja-JP" altLang="zh-CN" dirty="0"/>
              <a:t>（</a:t>
            </a:r>
            <a:r>
              <a:rPr kumimoji="1" lang="ja-JP" altLang="zh-CN" dirty="0"/>
              <a:t>にな）</a:t>
            </a:r>
            <a:r>
              <a:rPr kumimoji="1" lang="ja-JP" altLang="en-US" dirty="0"/>
              <a:t>います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zh-CN" altLang="en-US" dirty="0"/>
              <a:t>次</a:t>
            </a:r>
            <a:r>
              <a:rPr kumimoji="1" lang="ja-JP" altLang="en-US" dirty="0"/>
              <a:t>に</a:t>
            </a:r>
            <a:r>
              <a:rPr kumimoji="1" lang="zh-CN" altLang="en-US" dirty="0"/>
              <a:t>、電子</a:t>
            </a:r>
            <a:r>
              <a:rPr kumimoji="1" lang="ja-JP" altLang="en-US" dirty="0"/>
              <a:t>と</a:t>
            </a:r>
            <a:r>
              <a:rPr kumimoji="1" lang="zh-CN" altLang="en-US" dirty="0"/>
              <a:t>正孔</a:t>
            </a:r>
            <a:r>
              <a:rPr kumimoji="1" lang="ja-JP" altLang="en-US" dirty="0"/>
              <a:t>がどのように</a:t>
            </a:r>
            <a:r>
              <a:rPr kumimoji="1" lang="zh-CN" altLang="en-US" dirty="0"/>
              <a:t>抽出</a:t>
            </a:r>
            <a:r>
              <a:rPr kumimoji="1" lang="ja-JP" altLang="en-US" dirty="0"/>
              <a:t>されるかについて</a:t>
            </a:r>
            <a:r>
              <a:rPr kumimoji="1" lang="zh-CN" altLang="en-US" dirty="0"/>
              <a:t>説明</a:t>
            </a:r>
            <a:r>
              <a:rPr kumimoji="1" lang="ja-JP" altLang="en-US" dirty="0"/>
              <a:t>いたします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まず</a:t>
            </a:r>
            <a:r>
              <a:rPr kumimoji="1" lang="zh-CN" altLang="en-US" dirty="0"/>
              <a:t>、</a:t>
            </a:r>
            <a:r>
              <a:rPr kumimoji="1" lang="ja-JP" altLang="zh-CN" dirty="0"/>
              <a:t>暗い</a:t>
            </a:r>
            <a:r>
              <a:rPr kumimoji="1" lang="ja-JP" altLang="zh-CN" dirty="0"/>
              <a:t>、</a:t>
            </a:r>
            <a:r>
              <a:rPr kumimoji="1" lang="zh-CN" altLang="en-US" dirty="0"/>
              <a:t>平衡状態</a:t>
            </a:r>
            <a:r>
              <a:rPr kumimoji="1" lang="ja-JP" altLang="zh-CN" dirty="0"/>
              <a:t>状況</a:t>
            </a:r>
            <a:r>
              <a:rPr kumimoji="1" lang="ja-JP" altLang="en-US" dirty="0"/>
              <a:t>におけるデバイス</a:t>
            </a:r>
            <a:r>
              <a:rPr kumimoji="1" lang="zh-CN" altLang="en-US" dirty="0"/>
              <a:t>内部</a:t>
            </a:r>
            <a:r>
              <a:rPr kumimoji="1" lang="ja-JP" altLang="en-US" dirty="0"/>
              <a:t>の</a:t>
            </a:r>
            <a:r>
              <a:rPr kumimoji="1" lang="zh-CN" altLang="en-US" dirty="0"/>
              <a:t>状況</a:t>
            </a:r>
            <a:r>
              <a:rPr kumimoji="1" lang="ja-JP" altLang="en-US" dirty="0"/>
              <a:t>を</a:t>
            </a:r>
            <a:r>
              <a:rPr kumimoji="1" lang="zh-CN" altLang="en-US" dirty="0"/>
              <a:t>考</a:t>
            </a:r>
            <a:r>
              <a:rPr kumimoji="1" lang="ja-JP" altLang="en-US" dirty="0"/>
              <a:t>えます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ここでは</a:t>
            </a:r>
            <a:r>
              <a:rPr kumimoji="1" lang="zh-CN" altLang="en-US" dirty="0"/>
              <a:t>例</a:t>
            </a:r>
            <a:r>
              <a:rPr kumimoji="1" lang="ja-JP" altLang="en-US" dirty="0"/>
              <a:t>として</a:t>
            </a:r>
            <a:r>
              <a:rPr kumimoji="1" lang="zh-CN" altLang="en-US" dirty="0"/>
              <a:t>、</a:t>
            </a:r>
            <a:r>
              <a:rPr kumimoji="1" lang="en-US" altLang="zh-CN" dirty="0"/>
              <a:t>ETL </a:t>
            </a:r>
            <a:r>
              <a:rPr kumimoji="1" lang="ja-JP" altLang="en-US" dirty="0"/>
              <a:t>とペロブスカイト</a:t>
            </a:r>
            <a:r>
              <a:rPr kumimoji="1" lang="zh-CN" altLang="en-US" dirty="0"/>
              <a:t>層（</a:t>
            </a:r>
            <a:r>
              <a:rPr kumimoji="1" lang="en-US" altLang="zh-CN" dirty="0"/>
              <a:t>PVK</a:t>
            </a:r>
            <a:r>
              <a:rPr kumimoji="1" lang="zh-CN" altLang="en-US" dirty="0"/>
              <a:t>）</a:t>
            </a:r>
            <a:r>
              <a:rPr kumimoji="1" lang="ja-JP" altLang="en-US" dirty="0"/>
              <a:t>との</a:t>
            </a:r>
            <a:r>
              <a:rPr kumimoji="1" lang="zh-CN" altLang="en-US" dirty="0"/>
              <a:t>界面</a:t>
            </a:r>
            <a:r>
              <a:rPr kumimoji="1" lang="ja-JP" altLang="en-US" dirty="0"/>
              <a:t>に</a:t>
            </a:r>
            <a:r>
              <a:rPr kumimoji="1" lang="zh-CN" altLang="en-US" dirty="0"/>
              <a:t>注目</a:t>
            </a:r>
            <a:r>
              <a:rPr kumimoji="1" lang="ja-JP" altLang="en-US" dirty="0"/>
              <a:t>します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en-US" altLang="zh-CN" dirty="0"/>
              <a:t>ETL </a:t>
            </a:r>
            <a:r>
              <a:rPr kumimoji="1" lang="ja-JP" altLang="en-US" dirty="0"/>
              <a:t>は</a:t>
            </a:r>
            <a:r>
              <a:rPr kumimoji="1" lang="en-US" altLang="zh-CN" dirty="0"/>
              <a:t> n </a:t>
            </a:r>
            <a:r>
              <a:rPr kumimoji="1" lang="zh-CN" altLang="en-US" dirty="0"/>
              <a:t>型半導体</a:t>
            </a:r>
            <a:r>
              <a:rPr kumimoji="1" lang="ja-JP" altLang="en-US" dirty="0"/>
              <a:t>であり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ペロブスカイト</a:t>
            </a:r>
            <a:r>
              <a:rPr kumimoji="1" lang="zh-CN" altLang="en-US" dirty="0"/>
              <a:t>層</a:t>
            </a:r>
            <a:r>
              <a:rPr kumimoji="1" lang="ja-JP" altLang="en-US" dirty="0"/>
              <a:t>よりも</a:t>
            </a:r>
            <a:r>
              <a:rPr kumimoji="1" lang="zh-CN" altLang="en-US" dirty="0"/>
              <a:t>電子濃度</a:t>
            </a:r>
            <a:r>
              <a:rPr kumimoji="1" lang="ja-JP" altLang="en-US" dirty="0"/>
              <a:t>が</a:t>
            </a:r>
            <a:r>
              <a:rPr kumimoji="1" lang="zh-CN" altLang="en-US" dirty="0"/>
              <a:t>高</a:t>
            </a:r>
            <a:r>
              <a:rPr kumimoji="1" lang="ja-JP" altLang="en-US" dirty="0"/>
              <a:t>くなっています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そのため</a:t>
            </a:r>
            <a:r>
              <a:rPr kumimoji="1" lang="zh-CN" altLang="en-US" dirty="0"/>
              <a:t>、両者</a:t>
            </a:r>
            <a:r>
              <a:rPr kumimoji="1" lang="ja-JP" altLang="en-US" dirty="0"/>
              <a:t>が</a:t>
            </a:r>
            <a:r>
              <a:rPr kumimoji="1" lang="zh-CN" altLang="en-US" dirty="0"/>
              <a:t>接触</a:t>
            </a:r>
            <a:r>
              <a:rPr kumimoji="1" lang="ja-JP" altLang="en-US" dirty="0"/>
              <a:t>すると</a:t>
            </a:r>
            <a:r>
              <a:rPr kumimoji="1" lang="zh-CN" altLang="en-US" dirty="0"/>
              <a:t>、電子</a:t>
            </a:r>
            <a:r>
              <a:rPr kumimoji="1" lang="ja-JP" altLang="en-US" dirty="0"/>
              <a:t>は</a:t>
            </a:r>
            <a:r>
              <a:rPr kumimoji="1" lang="zh-CN" altLang="en-US" dirty="0"/>
              <a:t>高濃度側</a:t>
            </a:r>
            <a:r>
              <a:rPr kumimoji="1" lang="ja-JP" altLang="en-US" dirty="0"/>
              <a:t>から</a:t>
            </a:r>
            <a:r>
              <a:rPr kumimoji="1" lang="zh-CN" altLang="en-US" dirty="0"/>
              <a:t>低濃度側</a:t>
            </a:r>
            <a:r>
              <a:rPr kumimoji="1" lang="ja-JP" altLang="en-US" dirty="0"/>
              <a:t>へ</a:t>
            </a:r>
            <a:r>
              <a:rPr kumimoji="1" lang="zh-CN" altLang="en-US" dirty="0"/>
              <a:t>拡散</a:t>
            </a:r>
            <a:r>
              <a:rPr kumimoji="1" lang="ja-JP" altLang="en-US" dirty="0"/>
              <a:t>し</a:t>
            </a:r>
            <a:r>
              <a:rPr kumimoji="1" lang="zh-CN" altLang="en-US" dirty="0"/>
              <a:t>、</a:t>
            </a:r>
            <a:endParaRPr kumimoji="1" lang="zh-CN" altLang="en-US" dirty="0"/>
          </a:p>
          <a:p>
            <a:r>
              <a:rPr kumimoji="1" lang="en-US" altLang="zh-CN" dirty="0"/>
              <a:t>ETL </a:t>
            </a:r>
            <a:r>
              <a:rPr kumimoji="1" lang="zh-CN" altLang="en-US" dirty="0"/>
              <a:t>側</a:t>
            </a:r>
            <a:r>
              <a:rPr kumimoji="1" lang="ja-JP" altLang="en-US" dirty="0"/>
              <a:t>の</a:t>
            </a:r>
            <a:r>
              <a:rPr kumimoji="1" lang="zh-CN" altLang="en-US" dirty="0"/>
              <a:t>界面近傍</a:t>
            </a:r>
            <a:r>
              <a:rPr kumimoji="1" lang="ja-JP" altLang="en-US" dirty="0"/>
              <a:t>では</a:t>
            </a:r>
            <a:r>
              <a:rPr kumimoji="1" lang="zh-CN" altLang="en-US" dirty="0"/>
              <a:t>電子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失</a:t>
            </a:r>
            <a:r>
              <a:rPr kumimoji="1" lang="ja-JP" altLang="en-US" dirty="0"/>
              <a:t>われ</a:t>
            </a:r>
            <a:r>
              <a:rPr kumimoji="1" lang="zh-CN" altLang="en-US" dirty="0"/>
              <a:t>、正</a:t>
            </a:r>
            <a:r>
              <a:rPr kumimoji="1" lang="ja-JP" altLang="en-US" dirty="0"/>
              <a:t>に</a:t>
            </a:r>
            <a:r>
              <a:rPr kumimoji="1" lang="zh-CN" altLang="en-US" dirty="0"/>
              <a:t>帯電</a:t>
            </a:r>
            <a:r>
              <a:rPr kumimoji="1" lang="ja-JP" altLang="en-US" dirty="0"/>
              <a:t>した</a:t>
            </a:r>
            <a:r>
              <a:rPr kumimoji="1" lang="zh-CN" altLang="en-US" dirty="0"/>
              <a:t>領域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形成</a:t>
            </a:r>
            <a:r>
              <a:rPr kumimoji="1" lang="ja-JP" altLang="en-US" dirty="0"/>
              <a:t>されます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zh-CN" altLang="en-US" dirty="0"/>
              <a:t>同様</a:t>
            </a:r>
            <a:r>
              <a:rPr kumimoji="1" lang="ja-JP" altLang="en-US" dirty="0"/>
              <a:t>に</a:t>
            </a:r>
            <a:r>
              <a:rPr kumimoji="1" lang="zh-CN" altLang="en-US" dirty="0"/>
              <a:t>、</a:t>
            </a:r>
            <a:r>
              <a:rPr kumimoji="1" lang="en-US" altLang="zh-CN" dirty="0"/>
              <a:t>HTL </a:t>
            </a:r>
            <a:r>
              <a:rPr kumimoji="1" lang="zh-CN" altLang="en-US" dirty="0"/>
              <a:t>側</a:t>
            </a:r>
            <a:r>
              <a:rPr kumimoji="1" lang="ja-JP" altLang="en-US" dirty="0"/>
              <a:t>では</a:t>
            </a:r>
            <a:r>
              <a:rPr kumimoji="1" lang="zh-CN" altLang="en-US" dirty="0"/>
              <a:t>正孔</a:t>
            </a:r>
            <a:r>
              <a:rPr kumimoji="1" lang="ja-JP" altLang="en-US" dirty="0"/>
              <a:t>の</a:t>
            </a:r>
            <a:r>
              <a:rPr kumimoji="1" lang="zh-CN" altLang="en-US" dirty="0"/>
              <a:t>拡散</a:t>
            </a:r>
            <a:r>
              <a:rPr kumimoji="1" lang="ja-JP" altLang="en-US" dirty="0"/>
              <a:t>により</a:t>
            </a:r>
            <a:r>
              <a:rPr kumimoji="1" lang="zh-CN" altLang="en-US" dirty="0"/>
              <a:t>、界面</a:t>
            </a:r>
            <a:r>
              <a:rPr kumimoji="1" lang="ja-JP" altLang="zh-CN" dirty="0"/>
              <a:t>近く</a:t>
            </a:r>
            <a:r>
              <a:rPr kumimoji="1" lang="ja-JP" altLang="en-US" dirty="0"/>
              <a:t>に</a:t>
            </a:r>
            <a:r>
              <a:rPr kumimoji="1" lang="ja-JP" altLang="zh-CN" dirty="0"/>
              <a:t>マイナス</a:t>
            </a:r>
            <a:r>
              <a:rPr kumimoji="1" lang="ja-JP" altLang="en-US" dirty="0"/>
              <a:t>に</a:t>
            </a:r>
            <a:r>
              <a:rPr kumimoji="1" lang="zh-CN" altLang="en-US" dirty="0"/>
              <a:t>帯電</a:t>
            </a:r>
            <a:r>
              <a:rPr kumimoji="1" lang="ja-JP" altLang="en-US" dirty="0"/>
              <a:t>した</a:t>
            </a:r>
            <a:r>
              <a:rPr kumimoji="1" lang="zh-CN" altLang="en-US" dirty="0"/>
              <a:t>領域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形成</a:t>
            </a:r>
            <a:r>
              <a:rPr kumimoji="1" lang="ja-JP" altLang="en-US" dirty="0"/>
              <a:t>されます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この</a:t>
            </a:r>
            <a:r>
              <a:rPr kumimoji="1" lang="zh-CN" altLang="en-US" dirty="0"/>
              <a:t>結果、</a:t>
            </a:r>
            <a:r>
              <a:rPr kumimoji="1" lang="en-US" altLang="zh-CN" dirty="0"/>
              <a:t>ETL </a:t>
            </a:r>
            <a:r>
              <a:rPr kumimoji="1" lang="ja-JP" altLang="en-US" dirty="0"/>
              <a:t>から</a:t>
            </a:r>
            <a:r>
              <a:rPr kumimoji="1" lang="en-US" altLang="zh-CN" dirty="0"/>
              <a:t> HTL </a:t>
            </a:r>
            <a:r>
              <a:rPr kumimoji="1" lang="ja-JP" altLang="en-US" dirty="0"/>
              <a:t>に</a:t>
            </a:r>
            <a:r>
              <a:rPr kumimoji="1" lang="zh-CN" altLang="en-US" dirty="0"/>
              <a:t>向</a:t>
            </a:r>
            <a:r>
              <a:rPr kumimoji="1" lang="ja-JP" altLang="en-US" dirty="0"/>
              <a:t>かう</a:t>
            </a:r>
            <a:r>
              <a:rPr kumimoji="1" lang="ja-JP" altLang="zh-CN" dirty="0"/>
              <a:t>内蔵電界</a:t>
            </a:r>
            <a:r>
              <a:rPr kumimoji="1" lang="ja-JP" altLang="en-US" dirty="0"/>
              <a:t>が</a:t>
            </a:r>
            <a:r>
              <a:rPr kumimoji="1" lang="zh-CN" altLang="en-US" dirty="0"/>
              <a:t>発生</a:t>
            </a:r>
            <a:r>
              <a:rPr kumimoji="1" lang="ja-JP" altLang="en-US" dirty="0"/>
              <a:t>します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ここでは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ペロブスカイト</a:t>
            </a:r>
            <a:r>
              <a:rPr kumimoji="1" lang="zh-CN" altLang="en-US" dirty="0"/>
              <a:t>層</a:t>
            </a:r>
            <a:r>
              <a:rPr kumimoji="1" lang="ja-JP" altLang="en-US" dirty="0"/>
              <a:t>の</a:t>
            </a:r>
            <a:r>
              <a:rPr kumimoji="1" lang="zh-CN" altLang="en-US" dirty="0"/>
              <a:t>厚</a:t>
            </a:r>
            <a:r>
              <a:rPr kumimoji="1" lang="ja-JP" altLang="en-US" dirty="0"/>
              <a:t>さが</a:t>
            </a:r>
            <a:r>
              <a:rPr kumimoji="1" lang="zh-CN" altLang="en-US" dirty="0"/>
              <a:t>耗尽層</a:t>
            </a:r>
            <a:r>
              <a:rPr kumimoji="1" lang="ja-JP" altLang="zh-CN" dirty="0"/>
              <a:t>（</a:t>
            </a:r>
            <a:r>
              <a:rPr kumimoji="1" lang="ja-JP" altLang="en-US" dirty="0"/>
              <a:t>じょうじんそう</a:t>
            </a:r>
            <a:r>
              <a:rPr kumimoji="1" lang="ja-JP" altLang="zh-CN" dirty="0"/>
              <a:t>）</a:t>
            </a:r>
            <a:r>
              <a:rPr kumimoji="1" lang="zh-CN" altLang="en-US" dirty="0"/>
              <a:t>幅</a:t>
            </a:r>
            <a:r>
              <a:rPr kumimoji="1" lang="ja-JP" altLang="en-US" dirty="0"/>
              <a:t>よりも</a:t>
            </a:r>
            <a:r>
              <a:rPr kumimoji="1" lang="zh-CN" altLang="en-US" dirty="0"/>
              <a:t>小</a:t>
            </a:r>
            <a:r>
              <a:rPr kumimoji="1" lang="ja-JP" altLang="en-US" dirty="0"/>
              <a:t>さいと</a:t>
            </a:r>
            <a:r>
              <a:rPr kumimoji="1" lang="zh-CN" altLang="en-US" dirty="0"/>
              <a:t>仮定</a:t>
            </a:r>
            <a:r>
              <a:rPr kumimoji="1" lang="ja-JP" altLang="en-US" dirty="0"/>
              <a:t>しているため</a:t>
            </a:r>
            <a:r>
              <a:rPr kumimoji="1" lang="zh-CN" altLang="en-US" dirty="0"/>
              <a:t>、</a:t>
            </a:r>
            <a:endParaRPr kumimoji="1" lang="zh-CN" altLang="en-US" dirty="0"/>
          </a:p>
          <a:p>
            <a:r>
              <a:rPr kumimoji="1" lang="ja-JP" altLang="en-US" dirty="0"/>
              <a:t>この</a:t>
            </a:r>
            <a:r>
              <a:rPr kumimoji="1" lang="zh-CN" altLang="en-US" dirty="0"/>
              <a:t>内蔵電場</a:t>
            </a:r>
            <a:r>
              <a:rPr kumimoji="1" lang="ja-JP" altLang="en-US" dirty="0"/>
              <a:t>は</a:t>
            </a:r>
            <a:r>
              <a:rPr kumimoji="1" lang="en-US" altLang="zh-CN" dirty="0"/>
              <a:t> </a:t>
            </a:r>
            <a:r>
              <a:rPr kumimoji="1" lang="ja-JP" altLang="en-US" dirty="0"/>
              <a:t>ペロブスカイト</a:t>
            </a:r>
            <a:r>
              <a:rPr kumimoji="1" lang="zh-CN" altLang="en-US" dirty="0"/>
              <a:t>層全体</a:t>
            </a:r>
            <a:r>
              <a:rPr kumimoji="1" lang="ja-JP" altLang="en-US" dirty="0"/>
              <a:t>にわたって</a:t>
            </a:r>
            <a:r>
              <a:rPr kumimoji="1" lang="zh-CN" altLang="en-US" dirty="0"/>
              <a:t>存在</a:t>
            </a:r>
            <a:r>
              <a:rPr kumimoji="1" lang="ja-JP" altLang="en-US" dirty="0"/>
              <a:t>します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この</a:t>
            </a:r>
            <a:r>
              <a:rPr kumimoji="1" lang="zh-CN" altLang="en-US" dirty="0"/>
              <a:t>状態</a:t>
            </a:r>
            <a:r>
              <a:rPr kumimoji="1" lang="ja-JP" altLang="en-US" dirty="0"/>
              <a:t>において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バンドギャップより</a:t>
            </a:r>
            <a:r>
              <a:rPr kumimoji="1" lang="zh-CN" altLang="en-US" dirty="0"/>
              <a:t>大</a:t>
            </a:r>
            <a:r>
              <a:rPr kumimoji="1" lang="ja-JP" altLang="en-US" dirty="0"/>
              <a:t>きなエネルギーを</a:t>
            </a:r>
            <a:r>
              <a:rPr kumimoji="1" lang="zh-CN" altLang="en-US" dirty="0"/>
              <a:t>持</a:t>
            </a:r>
            <a:r>
              <a:rPr kumimoji="1" lang="ja-JP" altLang="en-US" dirty="0"/>
              <a:t>つ</a:t>
            </a:r>
            <a:r>
              <a:rPr kumimoji="1" lang="zh-CN" altLang="en-US" dirty="0"/>
              <a:t>光子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入射</a:t>
            </a:r>
            <a:r>
              <a:rPr kumimoji="1" lang="ja-JP" altLang="en-US" dirty="0"/>
              <a:t>すると</a:t>
            </a:r>
            <a:r>
              <a:rPr kumimoji="1" lang="zh-CN" altLang="en-US" dirty="0"/>
              <a:t>、</a:t>
            </a:r>
            <a:endParaRPr kumimoji="1" lang="zh-CN" altLang="en-US" dirty="0"/>
          </a:p>
          <a:p>
            <a:r>
              <a:rPr kumimoji="1" lang="ja-JP" altLang="en-US" dirty="0"/>
              <a:t>ペロブスカイト</a:t>
            </a:r>
            <a:r>
              <a:rPr kumimoji="1" lang="zh-CN" altLang="en-US" dirty="0"/>
              <a:t>層内</a:t>
            </a:r>
            <a:r>
              <a:rPr kumimoji="1" lang="ja-JP" altLang="en-US" dirty="0"/>
              <a:t>で</a:t>
            </a:r>
            <a:r>
              <a:rPr kumimoji="1" lang="zh-CN" altLang="en-US" dirty="0"/>
              <a:t>電子</a:t>
            </a:r>
            <a:r>
              <a:rPr kumimoji="1" lang="ja-JP" altLang="en-US" dirty="0"/>
              <a:t>・</a:t>
            </a:r>
            <a:r>
              <a:rPr kumimoji="1" lang="zh-CN" altLang="en-US" dirty="0"/>
              <a:t>正孔対</a:t>
            </a:r>
            <a:r>
              <a:rPr kumimoji="1" lang="ja-JP" altLang="en-US" dirty="0"/>
              <a:t>が</a:t>
            </a:r>
            <a:r>
              <a:rPr kumimoji="1" lang="zh-CN" altLang="en-US" dirty="0"/>
              <a:t>生成</a:t>
            </a:r>
            <a:r>
              <a:rPr kumimoji="1" lang="ja-JP" altLang="en-US" dirty="0"/>
              <a:t>され</a:t>
            </a:r>
            <a:r>
              <a:rPr kumimoji="1" lang="zh-CN" altLang="en-US" dirty="0"/>
              <a:t>、</a:t>
            </a:r>
            <a:endParaRPr kumimoji="1" lang="zh-CN" altLang="en-US" dirty="0"/>
          </a:p>
          <a:p>
            <a:r>
              <a:rPr kumimoji="1" lang="ja-JP" altLang="en-US" dirty="0"/>
              <a:t>キャリア</a:t>
            </a:r>
            <a:r>
              <a:rPr kumimoji="1" lang="zh-CN" altLang="en-US" dirty="0"/>
              <a:t>濃度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増加</a:t>
            </a:r>
            <a:r>
              <a:rPr kumimoji="1" lang="ja-JP" altLang="en-US" dirty="0"/>
              <a:t>することで</a:t>
            </a:r>
            <a:r>
              <a:rPr kumimoji="1" lang="zh-CN" altLang="en-US" dirty="0"/>
              <a:t>平衡状態</a:t>
            </a:r>
            <a:r>
              <a:rPr kumimoji="1" lang="ja-JP" altLang="en-US" dirty="0"/>
              <a:t>が</a:t>
            </a:r>
            <a:r>
              <a:rPr kumimoji="1" lang="zh-CN" altLang="en-US" dirty="0"/>
              <a:t>破</a:t>
            </a:r>
            <a:r>
              <a:rPr kumimoji="1" lang="ja-JP" altLang="en-US" dirty="0"/>
              <a:t>れます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生成</a:t>
            </a:r>
            <a:r>
              <a:rPr kumimoji="1" lang="ja-JP" altLang="en-US" dirty="0"/>
              <a:t>された</a:t>
            </a:r>
            <a:r>
              <a:rPr kumimoji="1" lang="zh-CN" altLang="en-US" dirty="0"/>
              <a:t>電子</a:t>
            </a:r>
            <a:r>
              <a:rPr kumimoji="1" lang="ja-JP" altLang="en-US" dirty="0"/>
              <a:t>は</a:t>
            </a:r>
            <a:r>
              <a:rPr kumimoji="1" lang="zh-CN" altLang="en-US" dirty="0"/>
              <a:t>、内蔵電場</a:t>
            </a:r>
            <a:r>
              <a:rPr kumimoji="1" lang="ja-JP" altLang="en-US" dirty="0"/>
              <a:t>によるドリフトと</a:t>
            </a:r>
            <a:endParaRPr kumimoji="1" lang="ja-JP" altLang="en-US" dirty="0"/>
          </a:p>
          <a:p>
            <a:r>
              <a:rPr kumimoji="1" lang="zh-CN" altLang="en-US" dirty="0"/>
              <a:t>濃度勾配</a:t>
            </a:r>
            <a:r>
              <a:rPr kumimoji="1" lang="ja-JP" altLang="en-US" dirty="0"/>
              <a:t>による</a:t>
            </a:r>
            <a:r>
              <a:rPr kumimoji="1" lang="zh-CN" altLang="en-US" dirty="0"/>
              <a:t>拡散</a:t>
            </a:r>
            <a:r>
              <a:rPr kumimoji="1" lang="ja-JP" altLang="en-US" dirty="0"/>
              <a:t>の</a:t>
            </a:r>
            <a:r>
              <a:rPr kumimoji="1" lang="zh-CN" altLang="en-US" dirty="0"/>
              <a:t>両方</a:t>
            </a:r>
            <a:r>
              <a:rPr kumimoji="1" lang="ja-JP" altLang="en-US" dirty="0"/>
              <a:t>の</a:t>
            </a:r>
            <a:r>
              <a:rPr kumimoji="1" lang="zh-CN" altLang="en-US" dirty="0"/>
              <a:t>効果</a:t>
            </a:r>
            <a:r>
              <a:rPr kumimoji="1" lang="ja-JP" altLang="en-US" dirty="0"/>
              <a:t>によって</a:t>
            </a:r>
            <a:r>
              <a:rPr kumimoji="1" lang="zh-CN" altLang="en-US" dirty="0"/>
              <a:t>、</a:t>
            </a:r>
            <a:r>
              <a:rPr kumimoji="1" lang="en-US" altLang="zh-CN" dirty="0"/>
              <a:t>ETL </a:t>
            </a:r>
            <a:r>
              <a:rPr kumimoji="1" lang="zh-CN" altLang="en-US" dirty="0"/>
              <a:t>方向</a:t>
            </a:r>
            <a:r>
              <a:rPr kumimoji="1" lang="ja-JP" altLang="en-US" dirty="0"/>
              <a:t>へ</a:t>
            </a:r>
            <a:r>
              <a:rPr kumimoji="1" lang="zh-CN" altLang="en-US" dirty="0"/>
              <a:t>移動</a:t>
            </a:r>
            <a:r>
              <a:rPr kumimoji="1" lang="ja-JP" altLang="en-US" dirty="0"/>
              <a:t>します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これにより</a:t>
            </a:r>
            <a:r>
              <a:rPr kumimoji="1" lang="zh-CN" altLang="en-US" dirty="0"/>
              <a:t>、電子</a:t>
            </a:r>
            <a:r>
              <a:rPr kumimoji="1" lang="ja-JP" altLang="en-US" dirty="0"/>
              <a:t>の</a:t>
            </a:r>
            <a:r>
              <a:rPr kumimoji="1" lang="zh-CN" altLang="en-US" dirty="0"/>
              <a:t>抽出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実現</a:t>
            </a:r>
            <a:r>
              <a:rPr kumimoji="1" lang="ja-JP" altLang="en-US" dirty="0"/>
              <a:t>されます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ja-JP" altLang="en-US" dirty="0"/>
              <a:t>さらに</a:t>
            </a:r>
            <a:r>
              <a:rPr kumimoji="1" lang="zh-CN" altLang="en-US" dirty="0"/>
              <a:t>、</a:t>
            </a:r>
            <a:r>
              <a:rPr kumimoji="1" lang="en-US" altLang="zh-CN" dirty="0"/>
              <a:t>ETL </a:t>
            </a:r>
            <a:r>
              <a:rPr kumimoji="1" lang="ja-JP" altLang="en-US" dirty="0"/>
              <a:t>とペロブスカイト</a:t>
            </a:r>
            <a:r>
              <a:rPr kumimoji="1" lang="zh-CN" altLang="en-US" dirty="0"/>
              <a:t>層</a:t>
            </a:r>
            <a:r>
              <a:rPr kumimoji="1" lang="ja-JP" altLang="en-US" dirty="0"/>
              <a:t>は</a:t>
            </a:r>
            <a:r>
              <a:rPr kumimoji="1" lang="zh-CN" altLang="en-US" dirty="0"/>
              <a:t>異種接合</a:t>
            </a:r>
            <a:r>
              <a:rPr kumimoji="1" lang="ja-JP" altLang="en-US" dirty="0"/>
              <a:t>であるため</a:t>
            </a:r>
            <a:r>
              <a:rPr kumimoji="1" lang="zh-CN" altLang="en-US" dirty="0"/>
              <a:t>、</a:t>
            </a:r>
            <a:endParaRPr kumimoji="1" lang="zh-CN" altLang="en-US" dirty="0"/>
          </a:p>
          <a:p>
            <a:r>
              <a:rPr kumimoji="1" lang="zh-CN" altLang="en-US" dirty="0"/>
              <a:t>界面</a:t>
            </a:r>
            <a:r>
              <a:rPr kumimoji="1" lang="ja-JP" altLang="en-US" dirty="0"/>
              <a:t>にはエネルギーバンドのオフセットが</a:t>
            </a:r>
            <a:r>
              <a:rPr kumimoji="1" lang="zh-CN" altLang="en-US" dirty="0"/>
              <a:t>存在</a:t>
            </a:r>
            <a:r>
              <a:rPr kumimoji="1" lang="ja-JP" altLang="en-US" dirty="0"/>
              <a:t>します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このバンドオフセットが</a:t>
            </a:r>
            <a:r>
              <a:rPr kumimoji="1" lang="zh-CN" altLang="en-US" dirty="0"/>
              <a:t>、電子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再</a:t>
            </a:r>
            <a:r>
              <a:rPr kumimoji="1" lang="ja-JP" altLang="en-US" dirty="0"/>
              <a:t>びペロブスカイト</a:t>
            </a:r>
            <a:r>
              <a:rPr kumimoji="1" lang="zh-CN" altLang="en-US" dirty="0"/>
              <a:t>層</a:t>
            </a:r>
            <a:r>
              <a:rPr kumimoji="1" lang="ja-JP" altLang="en-US" dirty="0"/>
              <a:t>へ</a:t>
            </a:r>
            <a:r>
              <a:rPr kumimoji="1" lang="zh-CN" altLang="en-US" dirty="0"/>
              <a:t>戻</a:t>
            </a:r>
            <a:r>
              <a:rPr kumimoji="1" lang="ja-JP" altLang="en-US" dirty="0"/>
              <a:t>るのを</a:t>
            </a:r>
            <a:r>
              <a:rPr kumimoji="1" lang="zh-CN" altLang="en-US" dirty="0"/>
              <a:t>抑制</a:t>
            </a:r>
            <a:r>
              <a:rPr kumimoji="1" lang="ja-JP" altLang="en-US" dirty="0"/>
              <a:t>します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最後</a:t>
            </a:r>
            <a:r>
              <a:rPr kumimoji="1" lang="ja-JP" altLang="en-US" dirty="0"/>
              <a:t>に</a:t>
            </a:r>
            <a:r>
              <a:rPr kumimoji="1" lang="zh-CN" altLang="en-US" dirty="0"/>
              <a:t>、金属電極</a:t>
            </a:r>
            <a:r>
              <a:rPr kumimoji="1" lang="ja-JP" altLang="en-US" dirty="0"/>
              <a:t>を</a:t>
            </a:r>
            <a:r>
              <a:rPr kumimoji="1" lang="zh-CN" altLang="en-US" dirty="0"/>
              <a:t>通</a:t>
            </a:r>
            <a:r>
              <a:rPr kumimoji="1" lang="ja-JP" altLang="en-US" dirty="0"/>
              <a:t>じて</a:t>
            </a:r>
            <a:r>
              <a:rPr kumimoji="1" lang="zh-CN" altLang="en-US" dirty="0"/>
              <a:t>外部負荷</a:t>
            </a:r>
            <a:r>
              <a:rPr kumimoji="1" lang="ja-JP" altLang="en-US" dirty="0"/>
              <a:t>を</a:t>
            </a:r>
            <a:r>
              <a:rPr kumimoji="1" lang="zh-CN" altLang="en-US" dirty="0"/>
              <a:t>接続</a:t>
            </a:r>
            <a:r>
              <a:rPr kumimoji="1" lang="ja-JP" altLang="en-US" dirty="0"/>
              <a:t>することで</a:t>
            </a:r>
            <a:r>
              <a:rPr kumimoji="1" lang="zh-CN" altLang="en-US" dirty="0"/>
              <a:t>、</a:t>
            </a:r>
            <a:endParaRPr kumimoji="1" lang="zh-CN" altLang="en-US" dirty="0"/>
          </a:p>
          <a:p>
            <a:r>
              <a:rPr kumimoji="1" lang="ja-JP" altLang="en-US" dirty="0"/>
              <a:t>キャリアが</a:t>
            </a:r>
            <a:r>
              <a:rPr kumimoji="1" lang="zh-CN" altLang="en-US" dirty="0"/>
              <a:t>外部回路</a:t>
            </a:r>
            <a:r>
              <a:rPr kumimoji="1" lang="ja-JP" altLang="en-US" dirty="0"/>
              <a:t>を</a:t>
            </a:r>
            <a:r>
              <a:rPr kumimoji="1" lang="zh-CN" altLang="en-US" dirty="0"/>
              <a:t>流</a:t>
            </a:r>
            <a:r>
              <a:rPr kumimoji="1" lang="ja-JP" altLang="en-US" dirty="0"/>
              <a:t>れ</a:t>
            </a:r>
            <a:r>
              <a:rPr kumimoji="1" lang="zh-CN" altLang="en-US" dirty="0"/>
              <a:t>、電力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取</a:t>
            </a:r>
            <a:r>
              <a:rPr kumimoji="1" lang="ja-JP" altLang="en-US" dirty="0"/>
              <a:t>り</a:t>
            </a:r>
            <a:r>
              <a:rPr kumimoji="1" lang="zh-CN" altLang="en-US" dirty="0"/>
              <a:t>出</a:t>
            </a:r>
            <a:r>
              <a:rPr kumimoji="1" lang="ja-JP" altLang="en-US" dirty="0"/>
              <a:t>されます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62FA8-41E8-4427-AEF1-4A4358CE97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次</a:t>
            </a:r>
            <a:r>
              <a:rPr kumimoji="1" lang="ja-JP" altLang="en-US" dirty="0"/>
              <a:t>に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ペロブスカイトの</a:t>
            </a:r>
            <a:r>
              <a:rPr kumimoji="1" lang="zh-CN" altLang="en-US" dirty="0"/>
              <a:t>結晶構造</a:t>
            </a:r>
            <a:r>
              <a:rPr kumimoji="1" lang="ja-JP" altLang="en-US" dirty="0"/>
              <a:t>と</a:t>
            </a:r>
            <a:r>
              <a:rPr kumimoji="1" lang="zh-CN" altLang="en-US" dirty="0"/>
              <a:t>安定性</a:t>
            </a:r>
            <a:r>
              <a:rPr kumimoji="1" lang="ja-JP" altLang="en-US" dirty="0"/>
              <a:t>の</a:t>
            </a:r>
            <a:r>
              <a:rPr kumimoji="1" lang="zh-CN" altLang="en-US" dirty="0"/>
              <a:t>課題</a:t>
            </a:r>
            <a:r>
              <a:rPr kumimoji="1" lang="ja-JP" altLang="en-US" dirty="0"/>
              <a:t>についてお</a:t>
            </a:r>
            <a:r>
              <a:rPr kumimoji="1" lang="zh-CN" altLang="en-US" dirty="0"/>
              <a:t>話</a:t>
            </a:r>
            <a:r>
              <a:rPr kumimoji="1" lang="ja-JP" altLang="en-US" dirty="0"/>
              <a:t>しします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まず</a:t>
            </a:r>
            <a:r>
              <a:rPr kumimoji="1" lang="zh-CN" altLang="en-US" dirty="0"/>
              <a:t>、左上</a:t>
            </a:r>
            <a:r>
              <a:rPr kumimoji="1" lang="ja-JP" altLang="en-US" dirty="0"/>
              <a:t>の</a:t>
            </a:r>
            <a:r>
              <a:rPr kumimoji="1" lang="zh-CN" altLang="en-US" dirty="0"/>
              <a:t>図</a:t>
            </a:r>
            <a:r>
              <a:rPr kumimoji="1" lang="ja-JP" altLang="en-US" dirty="0"/>
              <a:t>に</a:t>
            </a:r>
            <a:r>
              <a:rPr kumimoji="1" lang="zh-CN" altLang="en-US" dirty="0"/>
              <a:t>示</a:t>
            </a:r>
            <a:r>
              <a:rPr kumimoji="1" lang="ja-JP" altLang="en-US" dirty="0"/>
              <a:t>すように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ペロブスカイトは</a:t>
            </a:r>
            <a:r>
              <a:rPr kumimoji="1" lang="zh-CN" altLang="en-US" dirty="0"/>
              <a:t>一般</a:t>
            </a:r>
            <a:r>
              <a:rPr kumimoji="1" lang="ja-JP" altLang="en-US" dirty="0"/>
              <a:t>に</a:t>
            </a:r>
            <a:r>
              <a:rPr kumimoji="1" lang="en-US" altLang="zh-CN" dirty="0"/>
              <a:t> ABX</a:t>
            </a:r>
            <a:r>
              <a:rPr kumimoji="1" lang="en-US" altLang="en-US" dirty="0"/>
              <a:t>₃</a:t>
            </a:r>
            <a:r>
              <a:rPr kumimoji="1" lang="en-US" altLang="zh-CN" dirty="0"/>
              <a:t> </a:t>
            </a:r>
            <a:r>
              <a:rPr kumimoji="1" lang="zh-CN" altLang="en-US" dirty="0"/>
              <a:t>型</a:t>
            </a:r>
            <a:r>
              <a:rPr kumimoji="1" lang="ja-JP" altLang="en-US" dirty="0"/>
              <a:t>の</a:t>
            </a:r>
            <a:r>
              <a:rPr kumimoji="1" lang="zh-CN" altLang="en-US" dirty="0"/>
              <a:t>結晶構造</a:t>
            </a:r>
            <a:r>
              <a:rPr kumimoji="1" lang="ja-JP" altLang="en-US" dirty="0"/>
              <a:t>を</a:t>
            </a:r>
            <a:r>
              <a:rPr kumimoji="1" lang="zh-CN" altLang="en-US" dirty="0"/>
              <a:t>持</a:t>
            </a:r>
            <a:r>
              <a:rPr kumimoji="1" lang="ja-JP" altLang="en-US" dirty="0"/>
              <a:t>ちます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en-US" altLang="zh-CN" dirty="0"/>
              <a:t>B </a:t>
            </a:r>
            <a:r>
              <a:rPr kumimoji="1" lang="ja-JP" altLang="en-US" dirty="0"/>
              <a:t>サイトの</a:t>
            </a:r>
            <a:r>
              <a:rPr kumimoji="1" lang="zh-CN" altLang="en-US" dirty="0"/>
              <a:t>金属</a:t>
            </a:r>
            <a:r>
              <a:rPr kumimoji="1" lang="ja-JP" altLang="en-US" dirty="0"/>
              <a:t>カチオンとハロゲンアニオンからなる</a:t>
            </a:r>
            <a:endParaRPr kumimoji="1" lang="ja-JP" altLang="en-US" dirty="0"/>
          </a:p>
          <a:p>
            <a:r>
              <a:rPr kumimoji="1" lang="en-US" altLang="zh-CN" dirty="0"/>
              <a:t>BX</a:t>
            </a:r>
            <a:r>
              <a:rPr kumimoji="1" lang="en-US" altLang="en-US" dirty="0"/>
              <a:t>₆</a:t>
            </a:r>
            <a:r>
              <a:rPr kumimoji="1" lang="en-US" altLang="zh-CN" dirty="0"/>
              <a:t> </a:t>
            </a:r>
            <a:r>
              <a:rPr kumimoji="1" lang="zh-CN" altLang="en-US" dirty="0"/>
              <a:t>八面体</a:t>
            </a:r>
            <a:r>
              <a:rPr kumimoji="1" lang="ja-JP" altLang="en-US" dirty="0"/>
              <a:t>がコーナー</a:t>
            </a:r>
            <a:r>
              <a:rPr kumimoji="1" lang="zh-CN" altLang="en-US" dirty="0"/>
              <a:t>共有</a:t>
            </a:r>
            <a:r>
              <a:rPr kumimoji="1" lang="ja-JP" altLang="en-US" dirty="0"/>
              <a:t>して</a:t>
            </a:r>
            <a:r>
              <a:rPr kumimoji="1" lang="zh-CN" altLang="en-US" dirty="0"/>
              <a:t>三次元骨格</a:t>
            </a:r>
            <a:r>
              <a:rPr kumimoji="1" lang="ja-JP" altLang="en-US" dirty="0"/>
              <a:t>を</a:t>
            </a:r>
            <a:r>
              <a:rPr kumimoji="1" lang="zh-CN" altLang="en-US" dirty="0"/>
              <a:t>形成</a:t>
            </a:r>
            <a:r>
              <a:rPr kumimoji="1" lang="ja-JP" altLang="en-US" dirty="0"/>
              <a:t>し</a:t>
            </a:r>
            <a:r>
              <a:rPr kumimoji="1" lang="zh-CN" altLang="en-US" dirty="0"/>
              <a:t>、</a:t>
            </a:r>
            <a:endParaRPr kumimoji="1" lang="zh-CN" altLang="en-US" dirty="0"/>
          </a:p>
          <a:p>
            <a:r>
              <a:rPr kumimoji="1" lang="ja-JP" altLang="en-US" dirty="0"/>
              <a:t>その</a:t>
            </a:r>
            <a:r>
              <a:rPr kumimoji="1" lang="zh-CN" altLang="en-US" dirty="0"/>
              <a:t>空隙</a:t>
            </a:r>
            <a:r>
              <a:rPr kumimoji="1" lang="ja-JP" altLang="en-US" dirty="0"/>
              <a:t>に</a:t>
            </a:r>
            <a:r>
              <a:rPr kumimoji="1" lang="en-US" altLang="zh-CN" dirty="0"/>
              <a:t> A </a:t>
            </a:r>
            <a:r>
              <a:rPr kumimoji="1" lang="ja-JP" altLang="en-US" dirty="0"/>
              <a:t>サイトのカチオンが</a:t>
            </a:r>
            <a:r>
              <a:rPr kumimoji="1" lang="zh-CN" altLang="en-US" dirty="0"/>
              <a:t>配置</a:t>
            </a:r>
            <a:r>
              <a:rPr kumimoji="1" lang="ja-JP" altLang="en-US" dirty="0"/>
              <a:t>されます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ja-JP" altLang="en-US" dirty="0"/>
              <a:t>この</a:t>
            </a:r>
            <a:r>
              <a:rPr kumimoji="1" lang="zh-CN" altLang="en-US" dirty="0"/>
              <a:t>構造</a:t>
            </a:r>
            <a:r>
              <a:rPr kumimoji="1" lang="ja-JP" altLang="en-US" dirty="0"/>
              <a:t>は</a:t>
            </a:r>
            <a:r>
              <a:rPr kumimoji="1" lang="zh-CN" altLang="en-US" dirty="0"/>
              <a:t>、無機</a:t>
            </a:r>
            <a:r>
              <a:rPr kumimoji="1" lang="ja-JP" altLang="en-US" dirty="0"/>
              <a:t>ペロブスカイトだけでなく</a:t>
            </a:r>
            <a:r>
              <a:rPr kumimoji="1" lang="zh-CN" altLang="en-US" dirty="0"/>
              <a:t>、有機</a:t>
            </a:r>
            <a:r>
              <a:rPr kumimoji="1" lang="en-US" altLang="zh-CN" dirty="0"/>
              <a:t>–</a:t>
            </a:r>
            <a:r>
              <a:rPr kumimoji="1" lang="zh-CN" altLang="en-US" dirty="0"/>
              <a:t>無機</a:t>
            </a:r>
            <a:r>
              <a:rPr kumimoji="1" lang="ja-JP" altLang="en-US" dirty="0"/>
              <a:t>ハイブリッド</a:t>
            </a:r>
            <a:r>
              <a:rPr kumimoji="1" lang="zh-CN" altLang="en-US" dirty="0"/>
              <a:t>系</a:t>
            </a:r>
            <a:r>
              <a:rPr kumimoji="1" lang="ja-JP" altLang="en-US" dirty="0"/>
              <a:t>にも</a:t>
            </a:r>
            <a:r>
              <a:rPr kumimoji="1" lang="zh-CN" altLang="en-US" dirty="0"/>
              <a:t>共通</a:t>
            </a:r>
            <a:r>
              <a:rPr kumimoji="1" lang="ja-JP" altLang="en-US" dirty="0"/>
              <a:t>していますが</a:t>
            </a:r>
            <a:r>
              <a:rPr kumimoji="1" lang="zh-CN" altLang="en-US" dirty="0"/>
              <a:t>、</a:t>
            </a:r>
            <a:endParaRPr kumimoji="1" lang="zh-CN" altLang="en-US" dirty="0"/>
          </a:p>
          <a:p>
            <a:r>
              <a:rPr kumimoji="1" lang="en-US" altLang="zh-CN" dirty="0"/>
              <a:t>A </a:t>
            </a:r>
            <a:r>
              <a:rPr kumimoji="1" lang="ja-JP" altLang="en-US" dirty="0"/>
              <a:t>サイトに</a:t>
            </a:r>
            <a:r>
              <a:rPr kumimoji="1" lang="zh-CN" altLang="en-US" dirty="0"/>
              <a:t>有機分子</a:t>
            </a:r>
            <a:r>
              <a:rPr kumimoji="1" lang="ja-JP" altLang="en-US" dirty="0"/>
              <a:t>を</a:t>
            </a:r>
            <a:r>
              <a:rPr kumimoji="1" lang="zh-CN" altLang="en-US" dirty="0"/>
              <a:t>含</a:t>
            </a:r>
            <a:r>
              <a:rPr kumimoji="1" lang="ja-JP" altLang="en-US" dirty="0"/>
              <a:t>む</a:t>
            </a:r>
            <a:r>
              <a:rPr kumimoji="1" lang="zh-CN" altLang="en-US" dirty="0"/>
              <a:t>場合、結晶格子</a:t>
            </a:r>
            <a:r>
              <a:rPr kumimoji="1" lang="ja-JP" altLang="en-US" dirty="0"/>
              <a:t>はより</a:t>
            </a:r>
            <a:r>
              <a:rPr kumimoji="1" lang="zh-CN" altLang="en-US" dirty="0"/>
              <a:t>柔軟、</a:t>
            </a:r>
            <a:r>
              <a:rPr kumimoji="1" lang="ja-JP" altLang="en-US" dirty="0"/>
              <a:t>すなわち</a:t>
            </a:r>
            <a:r>
              <a:rPr kumimoji="1" lang="en-US" altLang="zh-CN" dirty="0"/>
              <a:t> **“</a:t>
            </a:r>
            <a:r>
              <a:rPr kumimoji="1" lang="ja-JP" altLang="en-US" dirty="0"/>
              <a:t>ソフトなイオン</a:t>
            </a:r>
            <a:r>
              <a:rPr kumimoji="1" lang="zh-CN" altLang="en-US" dirty="0"/>
              <a:t>結晶</a:t>
            </a:r>
            <a:r>
              <a:rPr kumimoji="1" lang="en-US" altLang="zh-CN" dirty="0"/>
              <a:t>”**</a:t>
            </a:r>
            <a:r>
              <a:rPr kumimoji="1" lang="ja-JP" altLang="en-US" dirty="0"/>
              <a:t>となります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zh-CN" altLang="en-US" dirty="0"/>
              <a:t>右側</a:t>
            </a:r>
            <a:r>
              <a:rPr kumimoji="1" lang="ja-JP" altLang="en-US" dirty="0"/>
              <a:t>のパネルをご</a:t>
            </a:r>
            <a:r>
              <a:rPr kumimoji="1" lang="zh-CN" altLang="en-US" dirty="0"/>
              <a:t>覧</a:t>
            </a:r>
            <a:r>
              <a:rPr kumimoji="1" lang="ja-JP" altLang="en-US" dirty="0"/>
              <a:t>ください</a:t>
            </a:r>
            <a:r>
              <a:rPr kumimoji="1" lang="zh-CN" altLang="en-US" dirty="0"/>
              <a:t>。</a:t>
            </a:r>
            <a:r>
              <a:rPr kumimoji="1" lang="ja-JP" altLang="en-US" dirty="0"/>
              <a:t>この</a:t>
            </a:r>
            <a:r>
              <a:rPr kumimoji="1" lang="zh-CN" altLang="en-US" dirty="0"/>
              <a:t>材料</a:t>
            </a:r>
            <a:r>
              <a:rPr kumimoji="1" lang="ja-JP" altLang="en-US" dirty="0"/>
              <a:t>の</a:t>
            </a:r>
            <a:r>
              <a:rPr kumimoji="1" lang="zh-CN" altLang="en-US" dirty="0"/>
              <a:t>最大</a:t>
            </a:r>
            <a:r>
              <a:rPr kumimoji="1" lang="ja-JP" altLang="en-US" dirty="0"/>
              <a:t>の</a:t>
            </a:r>
            <a:r>
              <a:rPr kumimoji="1" lang="zh-CN" altLang="en-US" dirty="0"/>
              <a:t>課題</a:t>
            </a:r>
            <a:r>
              <a:rPr kumimoji="1" lang="ja-JP" altLang="en-US" dirty="0"/>
              <a:t>は</a:t>
            </a:r>
            <a:r>
              <a:rPr kumimoji="1" lang="zh-CN" altLang="en-US" dirty="0"/>
              <a:t>「不安定性」</a:t>
            </a:r>
            <a:r>
              <a:rPr kumimoji="1" lang="ja-JP" altLang="en-US" dirty="0"/>
              <a:t>ですが</a:t>
            </a:r>
            <a:r>
              <a:rPr kumimoji="1" lang="zh-CN" altLang="en-US" dirty="0"/>
              <a:t>、私</a:t>
            </a:r>
            <a:r>
              <a:rPr kumimoji="1" lang="ja-JP" altLang="en-US" dirty="0"/>
              <a:t>はこれを</a:t>
            </a:r>
            <a:r>
              <a:rPr kumimoji="1" lang="zh-CN" altLang="en-US" dirty="0"/>
              <a:t>「外的（</a:t>
            </a:r>
            <a:r>
              <a:rPr kumimoji="1" lang="en-US" altLang="zh-CN" dirty="0"/>
              <a:t>Extrinsic</a:t>
            </a:r>
            <a:r>
              <a:rPr kumimoji="1" lang="zh-CN" altLang="en-US" dirty="0"/>
              <a:t>）」</a:t>
            </a:r>
            <a:r>
              <a:rPr kumimoji="1" lang="ja-JP" altLang="en-US" dirty="0"/>
              <a:t>と</a:t>
            </a:r>
            <a:r>
              <a:rPr kumimoji="1" lang="zh-CN" altLang="en-US" dirty="0"/>
              <a:t>「内的（</a:t>
            </a:r>
            <a:r>
              <a:rPr kumimoji="1" lang="en-US" altLang="zh-CN" dirty="0"/>
              <a:t>Intrinsic</a:t>
            </a:r>
            <a:r>
              <a:rPr kumimoji="1" lang="zh-CN" altLang="en-US" dirty="0"/>
              <a:t>）」</a:t>
            </a:r>
            <a:r>
              <a:rPr kumimoji="1" lang="ja-JP" altLang="en-US" dirty="0"/>
              <a:t>に</a:t>
            </a:r>
            <a:r>
              <a:rPr kumimoji="1" lang="zh-CN" altLang="en-US" dirty="0"/>
              <a:t>分</a:t>
            </a:r>
            <a:r>
              <a:rPr kumimoji="1" lang="ja-JP" altLang="en-US" dirty="0"/>
              <a:t>けて</a:t>
            </a:r>
            <a:r>
              <a:rPr kumimoji="1" lang="zh-CN" altLang="en-US" dirty="0"/>
              <a:t>考</a:t>
            </a:r>
            <a:r>
              <a:rPr kumimoji="1" lang="ja-JP" altLang="en-US" dirty="0"/>
              <a:t>えています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まず</a:t>
            </a:r>
            <a:r>
              <a:rPr kumimoji="1" lang="zh-CN" altLang="en-US" dirty="0"/>
              <a:t>、上</a:t>
            </a:r>
            <a:r>
              <a:rPr kumimoji="1" lang="ja-JP" altLang="en-US" dirty="0"/>
              <a:t>の</a:t>
            </a:r>
            <a:r>
              <a:rPr kumimoji="1" lang="zh-CN" altLang="en-US" dirty="0"/>
              <a:t>「外的要因」</a:t>
            </a:r>
            <a:r>
              <a:rPr kumimoji="1" lang="ja-JP" altLang="en-US" dirty="0"/>
              <a:t>である</a:t>
            </a:r>
            <a:r>
              <a:rPr kumimoji="1" lang="zh-CN" altLang="en-US" dirty="0"/>
              <a:t>水分</a:t>
            </a:r>
            <a:r>
              <a:rPr kumimoji="1" lang="ja-JP" altLang="en-US" dirty="0"/>
              <a:t>や</a:t>
            </a:r>
            <a:r>
              <a:rPr kumimoji="1" lang="zh-CN" altLang="en-US" dirty="0"/>
              <a:t>酸素</a:t>
            </a:r>
            <a:r>
              <a:rPr kumimoji="1" lang="ja-JP" altLang="en-US" dirty="0"/>
              <a:t>については</a:t>
            </a:r>
            <a:r>
              <a:rPr kumimoji="1" lang="zh-CN" altLang="en-US" dirty="0"/>
              <a:t>、封止技術（</a:t>
            </a:r>
            <a:r>
              <a:rPr kumimoji="1" lang="en-US" altLang="zh-CN" dirty="0"/>
              <a:t>Encapsulation</a:t>
            </a:r>
            <a:r>
              <a:rPr kumimoji="1" lang="zh-CN" altLang="en-US" dirty="0"/>
              <a:t>）</a:t>
            </a:r>
            <a:r>
              <a:rPr kumimoji="1" lang="ja-JP" altLang="en-US" dirty="0"/>
              <a:t>などの</a:t>
            </a:r>
            <a:r>
              <a:rPr kumimoji="1" lang="zh-CN" altLang="en-US" dirty="0"/>
              <a:t>工学的</a:t>
            </a:r>
            <a:r>
              <a:rPr kumimoji="1" lang="ja-JP" altLang="en-US" dirty="0"/>
              <a:t>なアプローチで</a:t>
            </a:r>
            <a:r>
              <a:rPr kumimoji="1" lang="zh-CN" altLang="en-US" dirty="0"/>
              <a:t>対処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可能</a:t>
            </a:r>
            <a:r>
              <a:rPr kumimoji="1" lang="ja-JP" altLang="en-US" dirty="0"/>
              <a:t>です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ja-JP" altLang="en-US" dirty="0"/>
              <a:t>しかし</a:t>
            </a:r>
            <a:r>
              <a:rPr kumimoji="1" lang="zh-CN" altLang="en-US" dirty="0"/>
              <a:t>、私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博士課程</a:t>
            </a:r>
            <a:r>
              <a:rPr kumimoji="1" lang="ja-JP" altLang="en-US" dirty="0"/>
              <a:t>で</a:t>
            </a:r>
            <a:r>
              <a:rPr kumimoji="1" lang="zh-CN" altLang="en-US" dirty="0"/>
              <a:t>解決</a:t>
            </a:r>
            <a:r>
              <a:rPr kumimoji="1" lang="ja-JP" altLang="en-US" dirty="0"/>
              <a:t>したいのは</a:t>
            </a:r>
            <a:r>
              <a:rPr kumimoji="1" lang="zh-CN" altLang="en-US" dirty="0"/>
              <a:t>、下</a:t>
            </a:r>
            <a:r>
              <a:rPr kumimoji="1" lang="ja-JP" altLang="en-US" dirty="0"/>
              <a:t>の</a:t>
            </a:r>
            <a:r>
              <a:rPr kumimoji="1" lang="en-US" altLang="zh-CN" dirty="0"/>
              <a:t>**</a:t>
            </a:r>
            <a:r>
              <a:rPr kumimoji="1" lang="zh-CN" altLang="en-US" dirty="0"/>
              <a:t>「内的要因（</a:t>
            </a:r>
            <a:r>
              <a:rPr kumimoji="1" lang="en-US" altLang="zh-CN" dirty="0"/>
              <a:t>Intrinsic Instability</a:t>
            </a:r>
            <a:r>
              <a:rPr kumimoji="1" lang="zh-CN" altLang="en-US" dirty="0"/>
              <a:t>）」</a:t>
            </a:r>
            <a:r>
              <a:rPr kumimoji="1" lang="en-US" altLang="zh-CN" dirty="0"/>
              <a:t>**</a:t>
            </a:r>
            <a:r>
              <a:rPr kumimoji="1" lang="ja-JP" altLang="en-US" dirty="0"/>
              <a:t>です</a:t>
            </a:r>
            <a:r>
              <a:rPr kumimoji="1" lang="zh-CN" altLang="en-US" dirty="0"/>
              <a:t>。</a:t>
            </a:r>
            <a:r>
              <a:rPr kumimoji="1" lang="ja-JP" altLang="en-US" dirty="0"/>
              <a:t>これは</a:t>
            </a:r>
            <a:r>
              <a:rPr kumimoji="1" lang="zh-CN" altLang="en-US" dirty="0"/>
              <a:t>材料</a:t>
            </a:r>
            <a:r>
              <a:rPr kumimoji="1" lang="ja-JP" altLang="en-US" dirty="0"/>
              <a:t>そのものの</a:t>
            </a:r>
            <a:r>
              <a:rPr kumimoji="1" lang="zh-CN" altLang="en-US" dirty="0"/>
              <a:t>性質</a:t>
            </a:r>
            <a:r>
              <a:rPr kumimoji="1" lang="ja-JP" altLang="en-US" dirty="0"/>
              <a:t>に</a:t>
            </a:r>
            <a:r>
              <a:rPr kumimoji="1" lang="zh-CN" altLang="en-US" dirty="0"/>
              <a:t>由来</a:t>
            </a:r>
            <a:r>
              <a:rPr kumimoji="1" lang="ja-JP" altLang="en-US" dirty="0"/>
              <a:t>するため</a:t>
            </a:r>
            <a:r>
              <a:rPr kumimoji="1" lang="zh-CN" altLang="en-US" dirty="0"/>
              <a:t>、回避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困難</a:t>
            </a:r>
            <a:r>
              <a:rPr kumimoji="1" lang="ja-JP" altLang="en-US" dirty="0"/>
              <a:t>です</a:t>
            </a:r>
            <a:r>
              <a:rPr kumimoji="1" lang="zh-CN" altLang="en-US" dirty="0"/>
              <a:t>。具体的</a:t>
            </a:r>
            <a:r>
              <a:rPr kumimoji="1" lang="ja-JP" altLang="en-US" dirty="0"/>
              <a:t>には</a:t>
            </a:r>
            <a:r>
              <a:rPr kumimoji="1" lang="zh-CN" altLang="en-US" dirty="0"/>
              <a:t>以下</a:t>
            </a:r>
            <a:r>
              <a:rPr kumimoji="1" lang="ja-JP" altLang="en-US" dirty="0"/>
              <a:t>の</a:t>
            </a:r>
            <a:r>
              <a:rPr kumimoji="1" lang="en-US" altLang="zh-CN" dirty="0"/>
              <a:t>3</a:t>
            </a:r>
            <a:r>
              <a:rPr kumimoji="1" lang="zh-CN" altLang="en-US" dirty="0"/>
              <a:t>点</a:t>
            </a:r>
            <a:r>
              <a:rPr kumimoji="1" lang="ja-JP" altLang="en-US" dirty="0"/>
              <a:t>です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zh-CN" altLang="en-US" dirty="0"/>
              <a:t>格子不安定性（</a:t>
            </a:r>
            <a:r>
              <a:rPr kumimoji="1" lang="en-US" altLang="zh-CN" dirty="0"/>
              <a:t>Lattice Instability</a:t>
            </a:r>
            <a:r>
              <a:rPr kumimoji="1" lang="zh-CN" altLang="en-US" dirty="0"/>
              <a:t>）</a:t>
            </a:r>
            <a:r>
              <a:rPr kumimoji="1" lang="en-US" altLang="zh-CN" dirty="0"/>
              <a:t>: </a:t>
            </a:r>
            <a:r>
              <a:rPr kumimoji="1" lang="zh-CN" altLang="en-US" dirty="0"/>
              <a:t>熱</a:t>
            </a:r>
            <a:r>
              <a:rPr kumimoji="1" lang="ja-JP" altLang="en-US" dirty="0"/>
              <a:t>や</a:t>
            </a:r>
            <a:r>
              <a:rPr kumimoji="1" lang="zh-CN" altLang="en-US" dirty="0"/>
              <a:t>光</a:t>
            </a:r>
            <a:r>
              <a:rPr kumimoji="1" lang="ja-JP" altLang="en-US" dirty="0"/>
              <a:t>の</a:t>
            </a:r>
            <a:r>
              <a:rPr kumimoji="1" lang="zh-CN" altLang="en-US" dirty="0"/>
              <a:t>刺激</a:t>
            </a:r>
            <a:r>
              <a:rPr kumimoji="1" lang="ja-JP" altLang="en-US" dirty="0"/>
              <a:t>により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ソフトな</a:t>
            </a:r>
            <a:r>
              <a:rPr kumimoji="1" lang="zh-CN" altLang="en-US" dirty="0"/>
              <a:t>格子</a:t>
            </a:r>
            <a:r>
              <a:rPr kumimoji="1" lang="ja-JP" altLang="en-US" dirty="0"/>
              <a:t>が</a:t>
            </a:r>
            <a:r>
              <a:rPr kumimoji="1" lang="zh-CN" altLang="en-US" dirty="0"/>
              <a:t>歪</a:t>
            </a:r>
            <a:r>
              <a:rPr kumimoji="1" lang="ja-JP" altLang="en-US" dirty="0"/>
              <a:t>み</a:t>
            </a:r>
            <a:r>
              <a:rPr kumimoji="1" lang="zh-CN" altLang="en-US" dirty="0"/>
              <a:t>（</a:t>
            </a:r>
            <a:r>
              <a:rPr kumimoji="1" lang="en-US" altLang="zh-CN" dirty="0"/>
              <a:t>Distortion</a:t>
            </a:r>
            <a:r>
              <a:rPr kumimoji="1" lang="zh-CN" altLang="en-US" dirty="0"/>
              <a:t>）、</a:t>
            </a:r>
            <a:r>
              <a:rPr kumimoji="1" lang="ja-JP" altLang="en-US" dirty="0"/>
              <a:t>バンドギャップの</a:t>
            </a:r>
            <a:r>
              <a:rPr kumimoji="1" lang="zh-CN" altLang="en-US" dirty="0"/>
              <a:t>変化</a:t>
            </a:r>
            <a:r>
              <a:rPr kumimoji="1" lang="ja-JP" altLang="en-US" dirty="0"/>
              <a:t>を</a:t>
            </a:r>
            <a:r>
              <a:rPr kumimoji="1" lang="zh-CN" altLang="en-US" dirty="0"/>
              <a:t>引</a:t>
            </a:r>
            <a:r>
              <a:rPr kumimoji="1" lang="ja-JP" altLang="en-US" dirty="0"/>
              <a:t>き</a:t>
            </a:r>
            <a:r>
              <a:rPr kumimoji="1" lang="zh-CN" altLang="en-US" dirty="0"/>
              <a:t>起</a:t>
            </a:r>
            <a:r>
              <a:rPr kumimoji="1" lang="ja-JP" altLang="en-US" dirty="0"/>
              <a:t>こします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ja-JP" altLang="en-US" dirty="0"/>
              <a:t>イオン</a:t>
            </a:r>
            <a:r>
              <a:rPr kumimoji="1" lang="zh-CN" altLang="en-US" dirty="0"/>
              <a:t>移動（</a:t>
            </a:r>
            <a:r>
              <a:rPr kumimoji="1" lang="en-US" altLang="zh-CN" dirty="0"/>
              <a:t>Ion Migration</a:t>
            </a:r>
            <a:r>
              <a:rPr kumimoji="1" lang="zh-CN" altLang="en-US" dirty="0"/>
              <a:t>）</a:t>
            </a:r>
            <a:r>
              <a:rPr kumimoji="1" lang="en-US" altLang="zh-CN" dirty="0"/>
              <a:t>: </a:t>
            </a:r>
            <a:r>
              <a:rPr kumimoji="1" lang="zh-CN" altLang="en-US" dirty="0"/>
              <a:t>電界下</a:t>
            </a:r>
            <a:r>
              <a:rPr kumimoji="1" lang="ja-JP" altLang="en-US" dirty="0"/>
              <a:t>でハロゲンイオンが</a:t>
            </a:r>
            <a:r>
              <a:rPr kumimoji="1" lang="zh-CN" altLang="en-US" dirty="0"/>
              <a:t>欠陥</a:t>
            </a:r>
            <a:r>
              <a:rPr kumimoji="1" lang="ja-JP" altLang="en-US" dirty="0"/>
              <a:t>を</a:t>
            </a:r>
            <a:r>
              <a:rPr kumimoji="1" lang="zh-CN" altLang="en-US" dirty="0"/>
              <a:t>介</a:t>
            </a:r>
            <a:r>
              <a:rPr kumimoji="1" lang="ja-JP" altLang="en-US" dirty="0"/>
              <a:t>して</a:t>
            </a:r>
            <a:r>
              <a:rPr kumimoji="1" lang="zh-CN" altLang="en-US" dirty="0"/>
              <a:t>移動</a:t>
            </a:r>
            <a:r>
              <a:rPr kumimoji="1" lang="ja-JP" altLang="en-US" dirty="0"/>
              <a:t>し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デバイスを</a:t>
            </a:r>
            <a:r>
              <a:rPr kumimoji="1" lang="zh-CN" altLang="en-US" dirty="0"/>
              <a:t>劣化</a:t>
            </a:r>
            <a:r>
              <a:rPr kumimoji="1" lang="ja-JP" altLang="en-US" dirty="0"/>
              <a:t>させます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相分離（</a:t>
            </a:r>
            <a:r>
              <a:rPr kumimoji="1" lang="en-US" altLang="zh-CN" dirty="0"/>
              <a:t>Phase Segregation</a:t>
            </a:r>
            <a:r>
              <a:rPr kumimoji="1" lang="zh-CN" altLang="en-US" dirty="0"/>
              <a:t>）</a:t>
            </a:r>
            <a:r>
              <a:rPr kumimoji="1" lang="en-US" altLang="zh-CN" dirty="0"/>
              <a:t>: </a:t>
            </a:r>
            <a:r>
              <a:rPr kumimoji="1" lang="zh-CN" altLang="en-US" dirty="0"/>
              <a:t>特</a:t>
            </a:r>
            <a:r>
              <a:rPr kumimoji="1" lang="ja-JP" altLang="en-US" dirty="0"/>
              <a:t>に</a:t>
            </a:r>
            <a:r>
              <a:rPr kumimoji="1" lang="zh-CN" altLang="en-US" dirty="0"/>
              <a:t>混合</a:t>
            </a:r>
            <a:r>
              <a:rPr kumimoji="1" lang="ja-JP" altLang="en-US" dirty="0"/>
              <a:t>ハロゲンにおいて</a:t>
            </a:r>
            <a:r>
              <a:rPr kumimoji="1" lang="zh-CN" altLang="en-US" dirty="0"/>
              <a:t>、光照射下</a:t>
            </a:r>
            <a:r>
              <a:rPr kumimoji="1" lang="ja-JP" altLang="en-US" dirty="0"/>
              <a:t>で</a:t>
            </a:r>
            <a:r>
              <a:rPr kumimoji="1" lang="en-US" altLang="zh-CN" dirty="0"/>
              <a:t>I</a:t>
            </a:r>
            <a:r>
              <a:rPr kumimoji="1" lang="zh-CN" altLang="en-US" dirty="0"/>
              <a:t>（</a:t>
            </a:r>
            <a:r>
              <a:rPr kumimoji="1" lang="ja-JP" altLang="en-US" dirty="0"/>
              <a:t>ヨウ</a:t>
            </a:r>
            <a:r>
              <a:rPr kumimoji="1" lang="zh-CN" altLang="en-US" dirty="0"/>
              <a:t>素）</a:t>
            </a:r>
            <a:r>
              <a:rPr kumimoji="1" lang="ja-JP" altLang="en-US" dirty="0"/>
              <a:t>と</a:t>
            </a:r>
            <a:r>
              <a:rPr kumimoji="1" lang="en-US" altLang="zh-CN" dirty="0"/>
              <a:t>Br</a:t>
            </a:r>
            <a:r>
              <a:rPr kumimoji="1" lang="zh-CN" altLang="en-US" dirty="0"/>
              <a:t>（臭素）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分離</a:t>
            </a:r>
            <a:r>
              <a:rPr kumimoji="1" lang="ja-JP" altLang="en-US" dirty="0"/>
              <a:t>し</a:t>
            </a:r>
            <a:r>
              <a:rPr kumimoji="1" lang="zh-CN" altLang="en-US" dirty="0"/>
              <a:t>、電圧損失（</a:t>
            </a:r>
            <a:r>
              <a:rPr kumimoji="1" lang="en-US" altLang="zh-CN" dirty="0"/>
              <a:t>Voltage loss</a:t>
            </a:r>
            <a:r>
              <a:rPr kumimoji="1" lang="zh-CN" altLang="en-US" dirty="0"/>
              <a:t>）</a:t>
            </a:r>
            <a:r>
              <a:rPr kumimoji="1" lang="ja-JP" altLang="en-US" dirty="0"/>
              <a:t>を</a:t>
            </a:r>
            <a:r>
              <a:rPr kumimoji="1" lang="zh-CN" altLang="en-US" dirty="0"/>
              <a:t>招</a:t>
            </a:r>
            <a:r>
              <a:rPr kumimoji="1" lang="ja-JP" altLang="en-US" dirty="0"/>
              <a:t>きます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右端</a:t>
            </a:r>
            <a:r>
              <a:rPr kumimoji="1" lang="ja-JP" altLang="en-US" dirty="0"/>
              <a:t>にある</a:t>
            </a:r>
            <a:r>
              <a:rPr kumimoji="1" lang="zh-CN" altLang="en-US" dirty="0"/>
              <a:t>通</a:t>
            </a:r>
            <a:r>
              <a:rPr kumimoji="1" lang="ja-JP" altLang="en-US" dirty="0"/>
              <a:t>り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これらの</a:t>
            </a:r>
            <a:r>
              <a:rPr kumimoji="1" lang="zh-CN" altLang="en-US" dirty="0"/>
              <a:t>動的</a:t>
            </a:r>
            <a:r>
              <a:rPr kumimoji="1" lang="ja-JP" altLang="en-US" dirty="0"/>
              <a:t>な</a:t>
            </a:r>
            <a:r>
              <a:rPr kumimoji="1" lang="zh-CN" altLang="en-US" dirty="0"/>
              <a:t>挙動（</a:t>
            </a:r>
            <a:r>
              <a:rPr kumimoji="1" lang="en-US" altLang="zh-CN" dirty="0"/>
              <a:t>Dynamic behavior</a:t>
            </a:r>
            <a:r>
              <a:rPr kumimoji="1" lang="zh-CN" altLang="en-US" dirty="0"/>
              <a:t>）</a:t>
            </a:r>
            <a:r>
              <a:rPr kumimoji="1" lang="ja-JP" altLang="en-US" dirty="0"/>
              <a:t>には</a:t>
            </a:r>
            <a:r>
              <a:rPr kumimoji="1" lang="zh-CN" altLang="en-US" dirty="0"/>
              <a:t>、</a:t>
            </a:r>
            <a:r>
              <a:rPr kumimoji="1" lang="ja-JP" altLang="en-US" dirty="0"/>
              <a:t>まだ</a:t>
            </a:r>
            <a:r>
              <a:rPr kumimoji="1" lang="zh-CN" altLang="en-US" dirty="0"/>
              <a:t>明確</a:t>
            </a:r>
            <a:r>
              <a:rPr kumimoji="1" lang="ja-JP" altLang="en-US" dirty="0"/>
              <a:t>な</a:t>
            </a:r>
            <a:r>
              <a:rPr kumimoji="1" lang="zh-CN" altLang="en-US" dirty="0"/>
              <a:t>統一理論</a:t>
            </a:r>
            <a:r>
              <a:rPr kumimoji="1" lang="ja-JP" altLang="en-US" dirty="0"/>
              <a:t>や</a:t>
            </a:r>
            <a:r>
              <a:rPr kumimoji="1" lang="zh-CN" altLang="en-US" dirty="0"/>
              <a:t>解決策</a:t>
            </a:r>
            <a:r>
              <a:rPr kumimoji="1" lang="ja-JP" altLang="en-US" dirty="0"/>
              <a:t>が</a:t>
            </a:r>
            <a:r>
              <a:rPr kumimoji="1" lang="zh-CN" altLang="en-US" dirty="0"/>
              <a:t>確立</a:t>
            </a:r>
            <a:r>
              <a:rPr kumimoji="1" lang="ja-JP" altLang="en-US" dirty="0"/>
              <a:t>されていません</a:t>
            </a:r>
            <a:r>
              <a:rPr kumimoji="1" lang="zh-CN" altLang="en-US" dirty="0"/>
              <a:t>。</a:t>
            </a:r>
            <a:r>
              <a:rPr kumimoji="1" lang="ja-JP" altLang="en-US" dirty="0"/>
              <a:t>ここが</a:t>
            </a:r>
            <a:r>
              <a:rPr kumimoji="1" lang="zh-CN" altLang="en-US" dirty="0"/>
              <a:t>、私</a:t>
            </a:r>
            <a:r>
              <a:rPr kumimoji="1" lang="ja-JP" altLang="en-US" dirty="0"/>
              <a:t>の</a:t>
            </a:r>
            <a:r>
              <a:rPr kumimoji="1" lang="zh-CN" altLang="en-US" dirty="0"/>
              <a:t>研究</a:t>
            </a:r>
            <a:r>
              <a:rPr kumimoji="1" lang="ja-JP" altLang="en-US" dirty="0"/>
              <a:t>が</a:t>
            </a:r>
            <a:r>
              <a:rPr kumimoji="1" lang="zh-CN" altLang="en-US" dirty="0"/>
              <a:t>埋</a:t>
            </a:r>
            <a:r>
              <a:rPr kumimoji="1" lang="ja-JP" altLang="en-US" dirty="0"/>
              <a:t>めようとしている</a:t>
            </a:r>
            <a:r>
              <a:rPr kumimoji="1" lang="en-US" altLang="zh-CN" dirty="0"/>
              <a:t>Scientific Gap</a:t>
            </a:r>
            <a:r>
              <a:rPr kumimoji="1" lang="ja-JP" altLang="en-US" dirty="0"/>
              <a:t>です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62FA8-41E8-4427-AEF1-4A4358CE97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-81" y="695276"/>
            <a:ext cx="1220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0" y="173355"/>
            <a:ext cx="10065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b="1" dirty="0">
                <a:latin typeface="Times New Roman" panose="020206030504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2.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ＭＳ 明朝" panose="02020609040205080304" pitchFamily="17" charset="-128"/>
                <a:cs typeface="Times New Roman" panose="02020603050405020304" pitchFamily="18" charset="0"/>
                <a:sym typeface="+mn-ea"/>
              </a:rPr>
              <a:t>Perovskite Solar Cells Structure: Components and Function</a:t>
            </a:r>
            <a:endParaRPr kumimoji="1" lang="en-US" altLang="zh-CN" sz="2400" b="1" dirty="0">
              <a:latin typeface="Times New Roman" panose="02020603050405020304" pitchFamily="18" charset="0"/>
              <a:ea typeface="ＭＳ 明朝" panose="02020609040205080304" pitchFamily="17" charset="-128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056620" y="-6985"/>
            <a:ext cx="468000" cy="46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/>
          <p:cNvCxnSpPr/>
          <p:nvPr/>
        </p:nvCxnSpPr>
        <p:spPr>
          <a:xfrm flipH="1">
            <a:off x="4505960" y="854710"/>
            <a:ext cx="0" cy="5917565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矩形 117"/>
          <p:cNvSpPr/>
          <p:nvPr/>
        </p:nvSpPr>
        <p:spPr>
          <a:xfrm>
            <a:off x="0" y="4956175"/>
            <a:ext cx="4449445" cy="1816100"/>
          </a:xfrm>
          <a:prstGeom prst="rect">
            <a:avLst/>
          </a:prstGeom>
          <a:solidFill>
            <a:srgbClr val="F2F2F2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本框 109"/>
              <p:cNvSpPr txBox="1"/>
              <p:nvPr/>
            </p:nvSpPr>
            <p:spPr>
              <a:xfrm>
                <a:off x="24765" y="5106670"/>
                <a:ext cx="4866005" cy="16662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fontAlgn="auto">
                  <a:lnSpc>
                    <a:spcPct val="110000"/>
                  </a:lnSpc>
                  <a:spcAft>
                    <a:spcPts val="7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b="1"/>
                  <a:t>Transparent Conductive Oxide (TCO): </a:t>
                </a:r>
                <a:r>
                  <a:rPr lang="en-US" altLang="zh-CN" sz="1200"/>
                  <a:t>Light transmission &amp; Charge collection</a:t>
                </a:r>
                <a:endParaRPr lang="en-US" altLang="zh-CN" sz="1200"/>
              </a:p>
              <a:p>
                <a:pPr marL="171450" indent="-171450" fontAlgn="auto">
                  <a:lnSpc>
                    <a:spcPct val="110000"/>
                  </a:lnSpc>
                  <a:spcAft>
                    <a:spcPts val="7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b="1"/>
                  <a:t>Electron Transport Layer (ETL): </a:t>
                </a:r>
                <a:r>
                  <a:rPr lang="en-US" altLang="zh-CN" sz="1200"/>
                  <a:t>Electron extraction &amp; Hole blocking</a:t>
                </a:r>
                <a:endParaRPr lang="en-US" altLang="zh-CN" sz="1200"/>
              </a:p>
              <a:p>
                <a:pPr marL="171450" indent="-171450" fontAlgn="auto">
                  <a:lnSpc>
                    <a:spcPct val="110000"/>
                  </a:lnSpc>
                  <a:spcAft>
                    <a:spcPts val="7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b="1"/>
                  <a:t>Perovskite (Absorber Layer): </a:t>
                </a:r>
                <a:r>
                  <a:rPr lang="en-US" altLang="zh-CN" sz="1200"/>
                  <a:t>Light absorber,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charset="0"/>
                        <a:cs typeface="Cambria Math" panose="02040503050406030204" charset="0"/>
                      </a:rPr>
                      <m:t>ℎ𝑣</m:t>
                    </m:r>
                    <m:r>
                      <a:rPr lang="en-US" altLang="zh-CN" sz="1200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sSup>
                      <m:sSupPr>
                        <m:ctrlP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p>
                    <m:r>
                      <a:rPr lang="en-US" altLang="zh-CN" sz="12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ℎ</m:t>
                        </m:r>
                      </m:e>
                      <m:sup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</m:sup>
                    </m:sSup>
                  </m:oMath>
                </a14:m>
                <a:endParaRPr lang="en-US" altLang="zh-CN" sz="1200"/>
              </a:p>
              <a:p>
                <a:pPr marL="171450" indent="-171450" fontAlgn="auto">
                  <a:lnSpc>
                    <a:spcPct val="110000"/>
                  </a:lnSpc>
                  <a:spcAft>
                    <a:spcPts val="7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b="1"/>
                  <a:t>Hole Transport Layer (HTL): </a:t>
                </a:r>
                <a:r>
                  <a:rPr lang="en-US" altLang="zh-CN" sz="1200"/>
                  <a:t>Hole extraction &amp; Electron blocking</a:t>
                </a:r>
                <a:endParaRPr lang="en-US" altLang="zh-CN" sz="1200"/>
              </a:p>
              <a:p>
                <a:pPr marL="171450" indent="-171450" fontAlgn="auto">
                  <a:lnSpc>
                    <a:spcPct val="110000"/>
                  </a:lnSpc>
                  <a:spcAft>
                    <a:spcPts val="7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b="1"/>
                  <a:t>Metal Electrode: </a:t>
                </a:r>
                <a:r>
                  <a:rPr lang="en-US" altLang="zh-CN" sz="1200"/>
                  <a:t>Charge collection &amp; Light reflection</a:t>
                </a:r>
                <a:endParaRPr lang="en-US" altLang="zh-CN" sz="1200"/>
              </a:p>
            </p:txBody>
          </p:sp>
        </mc:Choice>
        <mc:Fallback>
          <p:sp>
            <p:nvSpPr>
              <p:cNvPr id="110" name="文本框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" y="5106670"/>
                <a:ext cx="4866005" cy="166624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文本框 115"/>
          <p:cNvSpPr txBox="1"/>
          <p:nvPr/>
        </p:nvSpPr>
        <p:spPr>
          <a:xfrm>
            <a:off x="4619625" y="3356610"/>
            <a:ext cx="75177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/>
              <a:t>Fig 4. (e) Energy level alignment of typical materials used in PSCs </a:t>
            </a:r>
            <a:r>
              <a:rPr lang="en-US" altLang="zh-CN" sz="1000" baseline="30000" dirty="0"/>
              <a:t>3</a:t>
            </a:r>
            <a:r>
              <a:rPr lang="en-US" altLang="zh-CN" sz="1000" dirty="0"/>
              <a:t> and (f) schematic equilibrium energy band diagram of a p-i-n perovskite solar cell, illustrating band bending and offsets..</a:t>
            </a:r>
            <a:endParaRPr lang="en-US" altLang="zh-CN" sz="1000" baseline="30000" dirty="0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566285" y="3803015"/>
            <a:ext cx="7596000" cy="29698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4580890" y="3755390"/>
            <a:ext cx="23888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/>
              <a:t>Working Principle: </a:t>
            </a:r>
            <a:endParaRPr lang="en-US" altLang="zh-CN" sz="12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4552315" y="3966845"/>
                <a:ext cx="7585075" cy="504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just" fontAlgn="auto">
                  <a:lnSpc>
                    <a:spcPct val="110000"/>
                  </a:lnSpc>
                </a:pPr>
                <a:r>
                  <a:rPr lang="en-US" altLang="zh-CN" sz="1200"/>
                  <a:t>1. </a:t>
                </a:r>
                <a:r>
                  <a:rPr lang="en-US" altLang="zh-CN" sz="1200" b="1"/>
                  <a:t>Photon Absorption &amp; Generation</a:t>
                </a:r>
                <a:r>
                  <a:rPr lang="en-US" altLang="zh-CN" sz="1200"/>
                  <a:t>: </a:t>
                </a:r>
                <a:endParaRPr lang="en-US" altLang="zh-CN" sz="1200"/>
              </a:p>
              <a:p>
                <a:pPr indent="304800" algn="just" fontAlgn="auto">
                  <a:lnSpc>
                    <a:spcPct val="110000"/>
                  </a:lnSpc>
                  <a:extLst>
                    <a:ext uri="{35155182-B16C-46BC-9424-99874614C6A1}">
                      <wpsdc:indentchars xmlns:wpsdc="http://www.wps.cn/officeDocument/2017/drawingmlCustomData" val="200" checksum="1077528236"/>
                    </a:ext>
                  </a:extLst>
                </a:pPr>
                <a:r>
                  <a:rPr lang="en-US" altLang="zh-CN" sz="1200"/>
                  <a:t>Upon illumination (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charset="0"/>
                        <a:cs typeface="Cambria Math" panose="02040503050406030204" charset="0"/>
                      </a:rPr>
                      <m:t>ℎ𝑣</m:t>
                    </m:r>
                    <m:r>
                      <a:rPr lang="en-US" altLang="zh-CN" sz="1200" i="1">
                        <a:latin typeface="Cambria Math" panose="02040503050406030204" charset="0"/>
                        <a:cs typeface="Cambria Math" panose="02040503050406030204" charset="0"/>
                      </a:rPr>
                      <m:t>≥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CN" sz="1200"/>
                  <a:t>), the Perovskite layer absorbs photons to generate electron-hole pairs. </a:t>
                </a:r>
                <a:endParaRPr lang="en-US" altLang="zh-CN" sz="1200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315" y="3966845"/>
                <a:ext cx="7585075" cy="50419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4552315" y="4375150"/>
                <a:ext cx="7585075" cy="1486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algn="just" fontAlgn="auto">
                  <a:lnSpc>
                    <a:spcPct val="110000"/>
                  </a:lnSpc>
                </a:pPr>
                <a:r>
                  <a:rPr lang="en-US" altLang="zh-CN" sz="1200"/>
                  <a:t>2. </a:t>
                </a:r>
                <a:r>
                  <a:rPr lang="en-US" altLang="zh-CN" sz="1200" b="1"/>
                  <a:t>Separation &amp; Transport:</a:t>
                </a:r>
                <a:r>
                  <a:rPr lang="en-US" altLang="zh-CN" sz="1200"/>
                  <a:t> </a:t>
                </a:r>
                <a:endParaRPr lang="en-US" altLang="zh-CN" sz="1200"/>
              </a:p>
              <a:p>
                <a:pPr indent="304800" algn="just" fontAlgn="auto">
                  <a:lnSpc>
                    <a:spcPct val="110000"/>
                  </a:lnSpc>
                  <a:extLst>
                    <a:ext uri="{35155182-B16C-46BC-9424-99874614C6A1}">
                      <wpsdc:indentchars xmlns:wpsdc="http://www.wps.cn/officeDocument/2017/drawingmlCustomData" val="200" checksum="1077528236"/>
                    </a:ext>
                  </a:extLst>
                </a:pPr>
                <a:r>
                  <a:rPr lang="en-US" altLang="zh-CN" sz="1200"/>
                  <a:t>Carriers are transported via the Drift-Diffusion mechanism, described by the current density equation: </a:t>
                </a:r>
                <a:endParaRPr lang="en-US" altLang="zh-CN" sz="1200"/>
              </a:p>
              <a:p>
                <a:pPr indent="0" algn="just" fontAlgn="auto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𝐽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,  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𝑞𝑛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𝑑𝑛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,  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𝑞𝑝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𝑞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𝑑𝑝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altLang="zh-CN" sz="12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304800" algn="just" fontAlgn="auto">
                  <a:lnSpc>
                    <a:spcPct val="110000"/>
                  </a:lnSpc>
                  <a:extLst>
                    <a:ext uri="{35155182-B16C-46BC-9424-99874614C6A1}">
                      <wpsdc:indentchars xmlns:wpsdc="http://www.wps.cn/officeDocument/2017/drawingmlCustomData" val="200" checksum="1077528236"/>
                    </a:ext>
                  </a:extLst>
                </a:pPr>
                <a:r>
                  <a:rPr lang="en-US" altLang="zh-CN" sz="1200"/>
                  <a:t>Drift (E):Driven by the built-in electric field, visualized as the potential slope across the PVK layer in Fig 2; Diffusion (dn/dx): Driven by the carrier concentration gradient. In perovskite solar cells, both drift and diffusion can contribute, depending on the device structure and operating conditions.</a:t>
                </a:r>
                <a:endParaRPr lang="en-US" altLang="zh-CN" sz="120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315" y="4375150"/>
                <a:ext cx="7585075" cy="14865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本框 66"/>
          <p:cNvSpPr txBox="1"/>
          <p:nvPr/>
        </p:nvSpPr>
        <p:spPr>
          <a:xfrm>
            <a:off x="4552315" y="5765800"/>
            <a:ext cx="7585710" cy="507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10000"/>
              </a:lnSpc>
            </a:pPr>
            <a:r>
              <a:rPr lang="en-US" altLang="zh-CN" sz="1200"/>
              <a:t>3. </a:t>
            </a:r>
            <a:r>
              <a:rPr lang="en-US" altLang="zh-CN" sz="1200" b="1"/>
              <a:t>Selective Extraction: </a:t>
            </a:r>
            <a:endParaRPr lang="en-US" altLang="zh-CN" sz="1200"/>
          </a:p>
          <a:p>
            <a:pPr indent="304800" algn="just" fontAlgn="auto">
              <a:lnSpc>
                <a:spcPct val="110000"/>
              </a:lnSpc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en-US" altLang="zh-CN" sz="1200"/>
              <a:t>Band offsets at interfaces act as selective barriers: electrons slide down to ETL, while holes float up to HTL.</a:t>
            </a:r>
            <a:endParaRPr lang="en-US" altLang="zh-CN" sz="1200"/>
          </a:p>
        </p:txBody>
      </p:sp>
      <p:sp>
        <p:nvSpPr>
          <p:cNvPr id="68" name="文本框 67"/>
          <p:cNvSpPr txBox="1"/>
          <p:nvPr/>
        </p:nvSpPr>
        <p:spPr>
          <a:xfrm>
            <a:off x="4552315" y="6177280"/>
            <a:ext cx="7584440" cy="545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10000"/>
              </a:lnSpc>
            </a:pPr>
            <a:r>
              <a:rPr lang="en-US" altLang="zh-CN" sz="1200"/>
              <a:t>4. </a:t>
            </a:r>
            <a:r>
              <a:rPr lang="en-US" altLang="zh-CN" sz="1200" b="1">
                <a:sym typeface="+mn-ea"/>
              </a:rPr>
              <a:t>Power Generation</a:t>
            </a:r>
            <a:r>
              <a:rPr lang="en-US" altLang="zh-CN" sz="1200"/>
              <a:t>: </a:t>
            </a:r>
            <a:endParaRPr lang="en-US" altLang="zh-CN" sz="1200"/>
          </a:p>
          <a:p>
            <a:pPr indent="304800" algn="just" fontAlgn="auto">
              <a:lnSpc>
                <a:spcPct val="110000"/>
              </a:lnSpc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en-US" altLang="zh-CN" sz="1200"/>
              <a:t>Charges are collected by the electrodes (TCO/Metal) and travel through the external circuit to deliver power. </a:t>
            </a:r>
            <a:endParaRPr lang="en-US" altLang="zh-CN" sz="1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790" y="854710"/>
            <a:ext cx="4077970" cy="240157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-39370" y="523240"/>
            <a:ext cx="4658360" cy="4660900"/>
            <a:chOff x="-62" y="824"/>
            <a:chExt cx="7336" cy="7340"/>
          </a:xfrm>
        </p:grpSpPr>
        <p:sp>
          <p:nvSpPr>
            <p:cNvPr id="109" name="文本框 108"/>
            <p:cNvSpPr txBox="1"/>
            <p:nvPr/>
          </p:nvSpPr>
          <p:spPr>
            <a:xfrm>
              <a:off x="-62" y="7730"/>
              <a:ext cx="418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/>
                <a:t>Functional Layers: </a:t>
              </a:r>
              <a:endParaRPr lang="en-US" altLang="zh-CN" sz="1200" b="1"/>
            </a:p>
          </p:txBody>
        </p:sp>
        <p:grpSp>
          <p:nvGrpSpPr>
            <p:cNvPr id="18" name="组合 17"/>
            <p:cNvGrpSpPr/>
            <p:nvPr/>
          </p:nvGrpSpPr>
          <p:grpSpPr>
            <a:xfrm rot="0">
              <a:off x="423" y="830"/>
              <a:ext cx="2372" cy="3670"/>
              <a:chOff x="6065" y="1376"/>
              <a:chExt cx="2372" cy="367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082" y="2911"/>
                <a:ext cx="2355" cy="213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152400" prstMaterial="matte">
                <a:extrusionClr>
                  <a:schemeClr val="accent1">
                    <a:lumMod val="20000"/>
                    <a:lumOff val="80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6065" y="2620"/>
                <a:ext cx="2353" cy="213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152400" prstMaterial="matte">
                <a:extrusionClr>
                  <a:schemeClr val="accent1">
                    <a:lumMod val="60000"/>
                    <a:lumOff val="40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6065" y="1985"/>
                <a:ext cx="2353" cy="213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381000" prstMaterial="matte">
                <a:extrusionClr>
                  <a:schemeClr val="accent3">
                    <a:lumMod val="60000"/>
                    <a:lumOff val="40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6080" y="1676"/>
                <a:ext cx="2353" cy="213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152400" prstMaterial="matte">
                <a:extrusionClr>
                  <a:schemeClr val="accent6">
                    <a:lumMod val="75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6080" y="1376"/>
                <a:ext cx="2353" cy="213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152400" prstMaterial="matte">
                <a:extrusionClr>
                  <a:schemeClr val="accent6">
                    <a:lumMod val="20000"/>
                    <a:lumOff val="80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400"/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7453" y="4480"/>
                <a:ext cx="786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/>
                  <a:t>n-i-p</a:t>
                </a:r>
                <a:endParaRPr lang="en-US" altLang="zh-CN" sz="120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rot="0">
              <a:off x="4152" y="824"/>
              <a:ext cx="2372" cy="3670"/>
              <a:chOff x="6065" y="1376"/>
              <a:chExt cx="2372" cy="367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6082" y="2911"/>
                <a:ext cx="2355" cy="213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152400" prstMaterial="matte">
                <a:extrusionClr>
                  <a:schemeClr val="accent1">
                    <a:lumMod val="20000"/>
                    <a:lumOff val="80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6065" y="2620"/>
                <a:ext cx="2353" cy="213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152400" prstMaterial="matte">
                <a:extrusionClr>
                  <a:schemeClr val="accent6">
                    <a:lumMod val="75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6065" y="1985"/>
                <a:ext cx="2353" cy="213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381000" prstMaterial="matte">
                <a:extrusionClr>
                  <a:schemeClr val="accent3">
                    <a:lumMod val="60000"/>
                    <a:lumOff val="40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080" y="1676"/>
                <a:ext cx="2353" cy="213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152400" prstMaterial="matte">
                <a:extrusionClr>
                  <a:schemeClr val="accent1">
                    <a:lumMod val="60000"/>
                    <a:lumOff val="40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6080" y="1376"/>
                <a:ext cx="2353" cy="213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scene3d>
                <a:camera prst="isometricOffAxis1Top"/>
                <a:lightRig rig="balanced" dir="t">
                  <a:rot lat="0" lon="0" rev="0"/>
                </a:lightRig>
              </a:scene3d>
              <a:sp3d extrusionH="152400" prstMaterial="matte">
                <a:extrusionClr>
                  <a:schemeClr val="accent6">
                    <a:lumMod val="20000"/>
                    <a:lumOff val="80000"/>
                  </a:schemeClr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7466" y="4498"/>
                <a:ext cx="786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/>
                  <a:t>p-i-n</a:t>
                </a:r>
                <a:endParaRPr lang="en-US" altLang="zh-CN" sz="120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39" y="1179"/>
              <a:ext cx="7235" cy="6626"/>
              <a:chOff x="11" y="1577"/>
              <a:chExt cx="7235" cy="6626"/>
            </a:xfrm>
          </p:grpSpPr>
          <p:sp>
            <p:nvSpPr>
              <p:cNvPr id="113" name="文本框 112"/>
              <p:cNvSpPr txBox="1"/>
              <p:nvPr/>
            </p:nvSpPr>
            <p:spPr>
              <a:xfrm>
                <a:off x="122" y="1577"/>
                <a:ext cx="690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/>
                  <a:t>(a)</a:t>
                </a:r>
                <a:endParaRPr lang="en-US" altLang="zh-CN" sz="1200"/>
              </a:p>
            </p:txBody>
          </p:sp>
          <p:sp>
            <p:nvSpPr>
              <p:cNvPr id="114" name="文本框 113"/>
              <p:cNvSpPr txBox="1"/>
              <p:nvPr/>
            </p:nvSpPr>
            <p:spPr>
              <a:xfrm>
                <a:off x="3575" y="1577"/>
                <a:ext cx="690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/>
                  <a:t>(b)</a:t>
                </a:r>
                <a:endParaRPr lang="en-US" altLang="zh-CN" sz="1200"/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11" y="7159"/>
                <a:ext cx="7235" cy="104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r>
                  <a:rPr lang="en-US" altLang="zh-CN" sz="1000"/>
                  <a:t>Fig 3. Schematic illustrations of (a) n–i–p and (b) p–i–n perovskite solar cell architectures;(c) conceptual bandgap configuration for tandem solar cells with wide- and narrow-bandgap subcells </a:t>
                </a:r>
                <a:r>
                  <a:rPr lang="en-US" altLang="zh-CN" sz="1000" baseline="30000"/>
                  <a:t>1</a:t>
                </a:r>
                <a:r>
                  <a:rPr lang="en-US" altLang="zh-CN" sz="1000"/>
                  <a:t>;and (d) the Shockley–Queisser efficiency limit as a function of bandgap energy for various photovoltaic technologies </a:t>
                </a:r>
                <a:r>
                  <a:rPr lang="en-US" altLang="zh-CN" sz="1000" baseline="30000"/>
                  <a:t>2</a:t>
                </a:r>
                <a:r>
                  <a:rPr lang="en-US" altLang="zh-CN" sz="1000"/>
                  <a:t>. </a:t>
                </a:r>
                <a:endParaRPr lang="en-US" altLang="zh-CN" sz="1000"/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 rot="21060000">
                <a:off x="1386" y="2517"/>
                <a:ext cx="153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</a:rPr>
                  <a:t>Metal Electrode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 rot="21060000">
                <a:off x="1253" y="2811"/>
                <a:ext cx="1776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</a:rPr>
                  <a:t>Hole Transport Layer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 rot="21060000">
                <a:off x="1630" y="3274"/>
                <a:ext cx="1068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</a:rPr>
                  <a:t>Perovskite 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 rot="21060000">
                <a:off x="1120" y="3754"/>
                <a:ext cx="230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</a:rPr>
                  <a:t>ELectron Transport Layer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 rot="21060000">
                <a:off x="932" y="4037"/>
                <a:ext cx="273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</a:rPr>
                  <a:t>Transparent Conductive Oxide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  <a:p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 rot="21060000">
                <a:off x="5099" y="2489"/>
                <a:ext cx="153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</a:rPr>
                  <a:t>Metal Electrode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 rot="21060000">
                <a:off x="4836" y="2777"/>
                <a:ext cx="210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  <a:sym typeface="+mn-ea"/>
                  </a:rPr>
                  <a:t>ELectron </a:t>
                </a:r>
                <a:r>
                  <a:rPr lang="en-US" altLang="zh-CN" sz="800" b="1">
                    <a:solidFill>
                      <a:schemeClr val="bg1"/>
                    </a:solidFill>
                  </a:rPr>
                  <a:t>Transport Layer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 rot="21060000">
                <a:off x="5343" y="3246"/>
                <a:ext cx="1068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</a:rPr>
                  <a:t>Perovskite 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 rot="21060000">
                <a:off x="4986" y="3745"/>
                <a:ext cx="1866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</a:rPr>
                  <a:t>HoleTransport Layer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 rot="21060000">
                <a:off x="4632" y="4051"/>
                <a:ext cx="2380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>
                    <a:solidFill>
                      <a:schemeClr val="bg1"/>
                    </a:solidFill>
                  </a:rPr>
                  <a:t>Transparent Conductive Oxide</a:t>
                </a:r>
                <a:endParaRPr lang="en-US" altLang="zh-CN" sz="800" b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27" name="图片 2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" y="4898"/>
                <a:ext cx="3395" cy="2262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52" y="4961"/>
                <a:ext cx="2697" cy="2276"/>
              </a:xfrm>
              <a:prstGeom prst="rect">
                <a:avLst/>
              </a:prstGeom>
            </p:spPr>
          </p:pic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581775"/>
            <a:ext cx="2743200" cy="365125"/>
          </a:xfrm>
        </p:spPr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80" name="文本框 179"/>
          <p:cNvSpPr txBox="1"/>
          <p:nvPr/>
        </p:nvSpPr>
        <p:spPr>
          <a:xfrm>
            <a:off x="95250" y="2853690"/>
            <a:ext cx="438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(</a:t>
            </a:r>
            <a:r>
              <a:rPr lang="en-US" altLang="zh-CN" sz="1200"/>
              <a:t>c)</a:t>
            </a:r>
            <a:endParaRPr lang="en-US" altLang="zh-CN" sz="1200"/>
          </a:p>
        </p:txBody>
      </p:sp>
      <p:sp>
        <p:nvSpPr>
          <p:cNvPr id="181" name="文本框 180"/>
          <p:cNvSpPr txBox="1"/>
          <p:nvPr/>
        </p:nvSpPr>
        <p:spPr>
          <a:xfrm>
            <a:off x="2287905" y="2773680"/>
            <a:ext cx="438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(d</a:t>
            </a:r>
            <a:r>
              <a:rPr lang="en-US" altLang="zh-CN" sz="1200"/>
              <a:t>)</a:t>
            </a:r>
            <a:endParaRPr lang="en-US" altLang="zh-CN" sz="1200"/>
          </a:p>
        </p:txBody>
      </p:sp>
      <p:sp>
        <p:nvSpPr>
          <p:cNvPr id="182" name="文本框 181"/>
          <p:cNvSpPr txBox="1"/>
          <p:nvPr/>
        </p:nvSpPr>
        <p:spPr>
          <a:xfrm>
            <a:off x="4813935" y="748665"/>
            <a:ext cx="438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(e)</a:t>
            </a:r>
            <a:endParaRPr lang="en-US" altLang="zh-CN" sz="1200"/>
          </a:p>
        </p:txBody>
      </p:sp>
      <p:sp>
        <p:nvSpPr>
          <p:cNvPr id="183" name="文本框 182"/>
          <p:cNvSpPr txBox="1"/>
          <p:nvPr/>
        </p:nvSpPr>
        <p:spPr>
          <a:xfrm>
            <a:off x="8636000" y="748665"/>
            <a:ext cx="438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(f)</a:t>
            </a:r>
            <a:endParaRPr lang="en-US" altLang="zh-CN" sz="1200"/>
          </a:p>
        </p:txBody>
      </p:sp>
      <p:pic>
        <p:nvPicPr>
          <p:cNvPr id="184" name="图片 18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000" y="1031875"/>
            <a:ext cx="3538855" cy="1950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6503670" y="781685"/>
            <a:ext cx="5678805" cy="2573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3451860" y="781685"/>
            <a:ext cx="2962910" cy="58407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-81" y="695276"/>
            <a:ext cx="1220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0" y="173355"/>
            <a:ext cx="10065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b="1" dirty="0">
                <a:latin typeface="Times New Roman" panose="020206030504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2.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ＭＳ 明朝" panose="02020609040205080304" pitchFamily="17" charset="-128"/>
                <a:cs typeface="Times New Roman" panose="02020603050405020304" pitchFamily="18" charset="0"/>
                <a:sym typeface="+mn-ea"/>
              </a:rPr>
              <a:t>Perovskite:Crystal Structure and Stability of Perovskites </a:t>
            </a:r>
            <a:endParaRPr kumimoji="1" lang="en-US" altLang="zh-CN" sz="2400" b="1" dirty="0">
              <a:latin typeface="Times New Roman" panose="02020603050405020304" pitchFamily="18" charset="0"/>
              <a:ea typeface="ＭＳ 明朝" panose="02020609040205080304" pitchFamily="17" charset="-128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056620" y="-6985"/>
            <a:ext cx="468000" cy="46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581775"/>
            <a:ext cx="2743200" cy="365125"/>
          </a:xfrm>
        </p:spPr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781685"/>
            <a:ext cx="3248660" cy="274002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3867150"/>
            <a:ext cx="3248660" cy="217678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85820" y="3721735"/>
            <a:ext cx="1773555" cy="838835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5038090" y="3878580"/>
            <a:ext cx="1376680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</a:pPr>
            <a:r>
              <a:rPr lang="en-US" altLang="zh-CN" sz="1200">
                <a:solidFill>
                  <a:schemeClr val="tx1"/>
                </a:solidFill>
                <a:uFillTx/>
              </a:rPr>
              <a:t>r</a:t>
            </a:r>
            <a:r>
              <a:rPr lang="en-US" altLang="zh-CN" sz="1200" baseline="-25000">
                <a:solidFill>
                  <a:schemeClr val="tx1"/>
                </a:solidFill>
                <a:uFillTx/>
              </a:rPr>
              <a:t>A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, r</a:t>
            </a:r>
            <a:r>
              <a:rPr lang="en-US" altLang="zh-CN" sz="1200" baseline="-25000">
                <a:solidFill>
                  <a:schemeClr val="tx1"/>
                </a:solidFill>
                <a:uFillTx/>
              </a:rPr>
              <a:t>B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, r</a:t>
            </a:r>
            <a:r>
              <a:rPr lang="en-US" altLang="zh-CN" sz="1200" baseline="-25000">
                <a:solidFill>
                  <a:schemeClr val="tx1"/>
                </a:solidFill>
                <a:uFillTx/>
              </a:rPr>
              <a:t>X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 = Ionic radii of the A, B, and X ions</a:t>
            </a:r>
            <a:endParaRPr lang="en-US" altLang="zh-CN" sz="1200">
              <a:solidFill>
                <a:schemeClr val="tx1"/>
              </a:solidFill>
              <a:uFillTx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14300" y="6121400"/>
            <a:ext cx="33432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/>
              <a:t>Fig 5.Schematic of perovskite crystal structures. (a) General unit cell of metal halide perovskites (ABX</a:t>
            </a:r>
            <a:r>
              <a:rPr lang="en-US" altLang="zh-CN" sz="1000" baseline="-25000" dirty="0"/>
              <a:t>3</a:t>
            </a:r>
            <a:r>
              <a:rPr lang="en-US" altLang="zh-CN" sz="1000" dirty="0"/>
              <a:t>). (b) Structural evolution from cubic to orthorhombic phases driven by octahedral tilting. </a:t>
            </a:r>
            <a:r>
              <a:rPr lang="en-US" altLang="zh-CN" sz="1000" baseline="30000" dirty="0">
                <a:solidFill>
                  <a:schemeClr val="tx1"/>
                </a:solidFill>
              </a:rPr>
              <a:t>4</a:t>
            </a:r>
            <a:endParaRPr lang="en-US" altLang="zh-CN" sz="1000" baseline="30000" dirty="0">
              <a:solidFill>
                <a:schemeClr val="tx1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452495" y="815340"/>
            <a:ext cx="2962275" cy="26079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fontAlgn="auto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altLang="zh-CN" sz="1600" b="1">
                <a:solidFill>
                  <a:schemeClr val="tx1"/>
                </a:solidFill>
                <a:uFillTx/>
              </a:rPr>
              <a:t>Typical ABX</a:t>
            </a:r>
            <a:r>
              <a:rPr lang="en-US" altLang="zh-CN" sz="1600" b="1" baseline="-25000">
                <a:solidFill>
                  <a:schemeClr val="tx1"/>
                </a:solidFill>
                <a:uFillTx/>
              </a:rPr>
              <a:t>3</a:t>
            </a:r>
            <a:r>
              <a:rPr lang="en-US" altLang="zh-CN" sz="1600" b="1">
                <a:solidFill>
                  <a:schemeClr val="tx1"/>
                </a:solidFill>
                <a:uFillTx/>
              </a:rPr>
              <a:t> Crystal Architecture</a:t>
            </a:r>
            <a:endParaRPr lang="en-US" altLang="zh-CN" sz="1600" b="1" i="1">
              <a:solidFill>
                <a:schemeClr val="tx1"/>
              </a:solidFill>
              <a:uFillTx/>
            </a:endParaRPr>
          </a:p>
          <a:p>
            <a:pPr marL="171450" indent="-171450" fontAlgn="auto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chemeClr val="tx1"/>
                </a:solidFill>
                <a:uFillTx/>
              </a:rPr>
              <a:t>Structure: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 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179705" indent="0" fontAlgn="auto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1200">
                <a:solidFill>
                  <a:schemeClr val="tx1"/>
                </a:solidFill>
                <a:uFillTx/>
              </a:rPr>
              <a:t>Corner-sharing [PbX</a:t>
            </a:r>
            <a:r>
              <a:rPr lang="en-US" altLang="zh-CN" sz="1200" baseline="-25000">
                <a:solidFill>
                  <a:schemeClr val="tx1"/>
                </a:solidFill>
                <a:uFillTx/>
              </a:rPr>
              <a:t>6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]</a:t>
            </a:r>
            <a:r>
              <a:rPr lang="en-US" altLang="zh-CN" sz="1200" baseline="30000">
                <a:solidFill>
                  <a:schemeClr val="tx1"/>
                </a:solidFill>
                <a:uFillTx/>
              </a:rPr>
              <a:t>4-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 octahedra framework with A-site cations occupying the voids.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171450" indent="-171450" fontAlgn="auto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chemeClr val="tx1"/>
                </a:solidFill>
                <a:uFillTx/>
              </a:rPr>
              <a:t>Components:</a:t>
            </a:r>
            <a:endParaRPr lang="en-US" altLang="zh-CN" sz="1200" b="1">
              <a:solidFill>
                <a:schemeClr val="tx1"/>
              </a:solidFill>
              <a:uFillTx/>
            </a:endParaRPr>
          </a:p>
          <a:p>
            <a:pPr marL="388620" indent="-171450" fontAlgn="auto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chemeClr val="tx1"/>
                </a:solidFill>
                <a:uFillTx/>
              </a:rPr>
              <a:t>A-site: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 Monovalent cation (e.g., MA+, FA+, Cs+)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388620" indent="-171450" fontAlgn="auto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chemeClr val="tx1"/>
                </a:solidFill>
                <a:uFillTx/>
              </a:rPr>
              <a:t>B-site: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 Divalent metal cation Pb</a:t>
            </a:r>
            <a:r>
              <a:rPr lang="en-US" altLang="zh-CN" sz="1200" baseline="30000">
                <a:solidFill>
                  <a:schemeClr val="tx1"/>
                </a:solidFill>
                <a:uFillTx/>
              </a:rPr>
              <a:t>2+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, Sn</a:t>
            </a:r>
            <a:r>
              <a:rPr lang="en-US" altLang="zh-CN" sz="1200" baseline="30000">
                <a:solidFill>
                  <a:schemeClr val="tx1"/>
                </a:solidFill>
                <a:uFillTx/>
              </a:rPr>
              <a:t>2+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)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388620" indent="-171450" fontAlgn="auto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chemeClr val="tx1"/>
                </a:solidFill>
                <a:uFillTx/>
              </a:rPr>
              <a:t>X-site: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 Halide anion (I</a:t>
            </a:r>
            <a:r>
              <a:rPr lang="en-US" altLang="zh-CN" sz="1200" baseline="30000">
                <a:solidFill>
                  <a:schemeClr val="tx1"/>
                </a:solidFill>
                <a:uFillTx/>
              </a:rPr>
              <a:t>-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, Br</a:t>
            </a:r>
            <a:r>
              <a:rPr lang="en-US" altLang="zh-CN" sz="1200" baseline="30000">
                <a:solidFill>
                  <a:schemeClr val="tx1"/>
                </a:solidFill>
                <a:uFillTx/>
              </a:rPr>
              <a:t>-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)</a:t>
            </a:r>
            <a:endParaRPr lang="en-US" altLang="zh-CN" sz="1200">
              <a:solidFill>
                <a:schemeClr val="tx1"/>
              </a:solidFill>
              <a:uFillTx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474720" y="4495165"/>
            <a:ext cx="2970530" cy="190563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fontAlgn="auto">
              <a:lnSpc>
                <a:spcPct val="12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altLang="zh-CN" sz="1600" b="1">
                <a:solidFill>
                  <a:schemeClr val="tx1"/>
                </a:solidFill>
                <a:uFillTx/>
              </a:rPr>
              <a:t>Goldschmidt Tolerance Factor (t):</a:t>
            </a:r>
            <a:endParaRPr lang="en-US" altLang="zh-CN" sz="1200" b="1">
              <a:solidFill>
                <a:schemeClr val="tx1"/>
              </a:solidFill>
              <a:uFillTx/>
            </a:endParaRPr>
          </a:p>
          <a:p>
            <a:pPr marL="171450" indent="-171450" fontAlgn="auto">
              <a:lnSpc>
                <a:spcPct val="12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/>
                </a:solidFill>
                <a:uFillTx/>
              </a:rPr>
              <a:t>A geometric parameter to assess the structural stability and distortion.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171450" indent="-171450" fontAlgn="auto">
              <a:lnSpc>
                <a:spcPct val="12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chemeClr val="tx1"/>
                </a:solidFill>
                <a:uFillTx/>
              </a:rPr>
              <a:t>0.8 &lt; t &lt; 1.0: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 Stable 3D structure (black phase).</a:t>
            </a:r>
            <a:endParaRPr lang="en-US" altLang="zh-CN" sz="1200">
              <a:solidFill>
                <a:schemeClr val="tx1"/>
              </a:solidFill>
              <a:uFillTx/>
            </a:endParaRPr>
          </a:p>
          <a:p>
            <a:pPr marL="171450" indent="-171450" fontAlgn="auto">
              <a:lnSpc>
                <a:spcPct val="12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chemeClr val="tx1"/>
                </a:solidFill>
                <a:uFillTx/>
              </a:rPr>
              <a:t>t ≈ 1:</a:t>
            </a:r>
            <a:r>
              <a:rPr lang="en-US" altLang="zh-CN" sz="1200">
                <a:solidFill>
                  <a:schemeClr val="tx1"/>
                </a:solidFill>
                <a:uFillTx/>
              </a:rPr>
              <a:t> Ideal Cubic symmetry (α-phase) with max orbital overlap.</a:t>
            </a:r>
            <a:endParaRPr lang="en-US" altLang="zh-CN" sz="1200">
              <a:solidFill>
                <a:schemeClr val="tx1"/>
              </a:solidFill>
              <a:uFillTx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494780" y="791210"/>
            <a:ext cx="3054985" cy="2553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10000"/>
              </a:lnSpc>
              <a:spcAft>
                <a:spcPts val="300"/>
              </a:spcAft>
            </a:pPr>
            <a:r>
              <a:rPr lang="en-US" altLang="zh-CN" sz="1600" b="1"/>
              <a:t>Extrinsic Instability</a:t>
            </a:r>
            <a:r>
              <a:rPr lang="zh-CN" altLang="en-US" sz="1600" b="1"/>
              <a:t>：</a:t>
            </a:r>
            <a:endParaRPr lang="zh-CN" altLang="en-US" sz="1600" b="1"/>
          </a:p>
          <a:p>
            <a:pPr marL="171450" indent="-171450" algn="l" fontAlgn="auto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b="1"/>
              <a:t>Moisture (H</a:t>
            </a:r>
            <a:r>
              <a:rPr lang="en-US" altLang="zh-CN" sz="1200" b="1" baseline="-25000"/>
              <a:t>2</a:t>
            </a:r>
            <a:r>
              <a:rPr lang="en-US" altLang="zh-CN" sz="1200" b="1"/>
              <a:t>O)</a:t>
            </a:r>
            <a:r>
              <a:rPr lang="en-US" sz="1200" b="1"/>
              <a:t>:</a:t>
            </a:r>
            <a:endParaRPr lang="en-US" sz="1200" b="1"/>
          </a:p>
          <a:p>
            <a:pPr marL="179705" indent="0" algn="l" fontAlgn="auto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1200"/>
              <a:t>Hydration weakens lattice bonds, triggering irreversible chemical decomposition.</a:t>
            </a:r>
            <a:r>
              <a:rPr lang="en-US" sz="1200"/>
              <a:t> </a:t>
            </a:r>
            <a:endParaRPr lang="en-US" sz="1200"/>
          </a:p>
          <a:p>
            <a:pPr marL="171450" indent="-171450" algn="l" fontAlgn="auto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 b="1"/>
              <a:t>Oxygen(O</a:t>
            </a:r>
            <a:r>
              <a:rPr lang="en-US" altLang="en-US" sz="1200" b="1" baseline="-25000"/>
              <a:t>2</a:t>
            </a:r>
            <a:r>
              <a:rPr lang="en-US" altLang="en-US" sz="1200" b="1"/>
              <a:t>):</a:t>
            </a:r>
            <a:endParaRPr lang="en-US" altLang="en-US" sz="1200" b="1"/>
          </a:p>
          <a:p>
            <a:pPr marL="179705" indent="0" algn="l" fontAlgn="auto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1200"/>
              <a:t>Forms reactive superoxides (O</a:t>
            </a:r>
            <a:r>
              <a:rPr lang="en-US" altLang="zh-CN" sz="1200" baseline="-25000"/>
              <a:t>2</a:t>
            </a:r>
            <a:r>
              <a:rPr lang="en-US" altLang="zh-CN" sz="1200" baseline="30000"/>
              <a:t>-</a:t>
            </a:r>
            <a:r>
              <a:rPr lang="en-US" altLang="zh-CN" sz="1200"/>
              <a:t>) under light, which attack and degrade organic cations.</a:t>
            </a:r>
            <a:endParaRPr lang="en-US" altLang="zh-CN" sz="1200"/>
          </a:p>
          <a:p>
            <a:pPr marL="171450" indent="-171450" algn="l" fontAlgn="auto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200" b="1"/>
              <a:t>UV Light:</a:t>
            </a:r>
            <a:endParaRPr lang="en-US" altLang="zh-CN" sz="1200" b="1"/>
          </a:p>
          <a:p>
            <a:pPr marL="179705" indent="0" algn="l" fontAlgn="auto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1200"/>
              <a:t>Induces photocatalytic degradation at the interface (e.g., TiO</a:t>
            </a:r>
            <a:r>
              <a:rPr lang="en-US" altLang="zh-CN" sz="1200" baseline="-25000"/>
              <a:t>2</a:t>
            </a:r>
            <a:r>
              <a:rPr lang="en-US" altLang="zh-CN" sz="1200"/>
              <a:t>), damaging the device.</a:t>
            </a:r>
            <a:endParaRPr lang="en-US" altLang="zh-CN" sz="1200"/>
          </a:p>
        </p:txBody>
      </p:sp>
      <p:sp>
        <p:nvSpPr>
          <p:cNvPr id="71" name="矩形 70"/>
          <p:cNvSpPr/>
          <p:nvPr/>
        </p:nvSpPr>
        <p:spPr>
          <a:xfrm>
            <a:off x="6503670" y="3401695"/>
            <a:ext cx="5691505" cy="3221990"/>
          </a:xfrm>
          <a:prstGeom prst="rect">
            <a:avLst/>
          </a:prstGeom>
          <a:solidFill>
            <a:srgbClr val="FCE6D5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/>
        </p:nvGrpSpPr>
        <p:grpSpPr>
          <a:xfrm>
            <a:off x="9570085" y="1828800"/>
            <a:ext cx="810260" cy="646430"/>
            <a:chOff x="15716" y="2880"/>
            <a:chExt cx="1276" cy="1018"/>
          </a:xfrm>
        </p:grpSpPr>
        <p:sp>
          <p:nvSpPr>
            <p:cNvPr id="75" name="圆角矩形 74"/>
            <p:cNvSpPr/>
            <p:nvPr/>
          </p:nvSpPr>
          <p:spPr>
            <a:xfrm>
              <a:off x="15836" y="2880"/>
              <a:ext cx="1019" cy="101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5716" y="2880"/>
              <a:ext cx="1276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rtlCol="0">
              <a:noAutofit/>
            </a:bodyPr>
            <a:p>
              <a:pPr algn="ctr"/>
              <a:r>
                <a:rPr lang="en-US" altLang="zh-CN" sz="1200" b="1">
                  <a:solidFill>
                    <a:schemeClr val="bg1"/>
                  </a:solidFill>
                </a:rPr>
                <a:t>Isolation </a:t>
              </a:r>
              <a:endParaRPr lang="en-US" altLang="zh-CN" sz="1200" b="1">
                <a:solidFill>
                  <a:schemeClr val="bg1"/>
                </a:solidFill>
              </a:endParaRPr>
            </a:p>
            <a:p>
              <a:pPr algn="ctr"/>
              <a:r>
                <a:rPr lang="en-US" altLang="zh-CN" sz="1200" b="1">
                  <a:solidFill>
                    <a:schemeClr val="bg1"/>
                  </a:solidFill>
                </a:rPr>
                <a:t>&amp; </a:t>
              </a:r>
              <a:endParaRPr lang="en-US" altLang="zh-CN" sz="1200" b="1">
                <a:solidFill>
                  <a:schemeClr val="bg1"/>
                </a:solidFill>
              </a:endParaRPr>
            </a:p>
            <a:p>
              <a:pPr algn="ctr"/>
              <a:r>
                <a:rPr lang="en-US" altLang="zh-CN" sz="1200" b="1">
                  <a:solidFill>
                    <a:schemeClr val="bg1"/>
                  </a:solidFill>
                </a:rPr>
                <a:t>Blocking</a:t>
              </a:r>
              <a:endParaRPr lang="en-US" altLang="zh-CN" sz="1200" b="1">
                <a:solidFill>
                  <a:schemeClr val="bg1"/>
                </a:solidFill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9422765" y="1553210"/>
            <a:ext cx="11188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Core Solution</a:t>
            </a:r>
            <a:endParaRPr lang="en-US" altLang="zh-CN" sz="1200" b="1"/>
          </a:p>
        </p:txBody>
      </p:sp>
      <p:cxnSp>
        <p:nvCxnSpPr>
          <p:cNvPr id="106" name="直接连接符 105"/>
          <p:cNvCxnSpPr/>
          <p:nvPr/>
        </p:nvCxnSpPr>
        <p:spPr>
          <a:xfrm>
            <a:off x="7971790" y="1230630"/>
            <a:ext cx="1980000" cy="0"/>
          </a:xfrm>
          <a:prstGeom prst="line">
            <a:avLst/>
          </a:prstGeom>
          <a:ln w="6350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9957435" y="1229360"/>
            <a:ext cx="0" cy="324000"/>
          </a:xfrm>
          <a:prstGeom prst="straightConnector1">
            <a:avLst/>
          </a:prstGeom>
          <a:ln w="6350">
            <a:solidFill>
              <a:schemeClr val="tx1"/>
            </a:solidFill>
            <a:prstDash val="dash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 rot="16200000">
            <a:off x="7722160" y="193746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rot="16200000">
            <a:off x="8578810" y="947460"/>
            <a:ext cx="0" cy="1980000"/>
          </a:xfrm>
          <a:prstGeom prst="straightConnector1">
            <a:avLst/>
          </a:prstGeom>
          <a:ln w="6350">
            <a:solidFill>
              <a:schemeClr val="tx1"/>
            </a:solidFill>
            <a:prstDash val="dash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7489190" y="2818130"/>
            <a:ext cx="2448000" cy="0"/>
          </a:xfrm>
          <a:prstGeom prst="line">
            <a:avLst/>
          </a:prstGeom>
          <a:ln w="6350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 flipV="1">
            <a:off x="9991090" y="2494280"/>
            <a:ext cx="0" cy="324000"/>
          </a:xfrm>
          <a:prstGeom prst="straightConnector1">
            <a:avLst/>
          </a:prstGeom>
          <a:ln w="6350">
            <a:solidFill>
              <a:schemeClr val="tx1"/>
            </a:solidFill>
            <a:prstDash val="dash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0" name="左大括号 129"/>
          <p:cNvSpPr/>
          <p:nvPr/>
        </p:nvSpPr>
        <p:spPr>
          <a:xfrm>
            <a:off x="10455275" y="1144905"/>
            <a:ext cx="151765" cy="201866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文本框 130"/>
          <p:cNvSpPr txBox="1"/>
          <p:nvPr/>
        </p:nvSpPr>
        <p:spPr>
          <a:xfrm>
            <a:off x="10647680" y="1011555"/>
            <a:ext cx="13284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Hydrophobic Barriers (e.g., Carbon, SAMs)</a:t>
            </a:r>
            <a:endParaRPr lang="en-US" altLang="zh-CN" sz="1200"/>
          </a:p>
        </p:txBody>
      </p:sp>
      <p:sp>
        <p:nvSpPr>
          <p:cNvPr id="132" name="文本框 131"/>
          <p:cNvSpPr txBox="1"/>
          <p:nvPr/>
        </p:nvSpPr>
        <p:spPr>
          <a:xfrm>
            <a:off x="10647680" y="1915160"/>
            <a:ext cx="1430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Hermetic Encapsulation (e.g., ALD oxides)</a:t>
            </a:r>
            <a:endParaRPr lang="en-US" altLang="zh-CN" sz="1200"/>
          </a:p>
        </p:txBody>
      </p:sp>
      <p:sp>
        <p:nvSpPr>
          <p:cNvPr id="133" name="文本框 132"/>
          <p:cNvSpPr txBox="1"/>
          <p:nvPr/>
        </p:nvSpPr>
        <p:spPr>
          <a:xfrm>
            <a:off x="10647680" y="2818765"/>
            <a:ext cx="1430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UV Filtering / Down-shifting</a:t>
            </a:r>
            <a:endParaRPr lang="en-US" altLang="zh-CN" sz="1200"/>
          </a:p>
        </p:txBody>
      </p:sp>
      <p:sp>
        <p:nvSpPr>
          <p:cNvPr id="134" name="文本框 133"/>
          <p:cNvSpPr txBox="1"/>
          <p:nvPr/>
        </p:nvSpPr>
        <p:spPr>
          <a:xfrm>
            <a:off x="6494780" y="3375660"/>
            <a:ext cx="3106420" cy="324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10000"/>
              </a:lnSpc>
              <a:spcAft>
                <a:spcPts val="500"/>
              </a:spcAft>
            </a:pPr>
            <a:r>
              <a:rPr lang="en-US" altLang="zh-CN" sz="1600" b="1"/>
              <a:t>I</a:t>
            </a:r>
            <a:r>
              <a:rPr lang="en-US" altLang="zh-CN" sz="1600" b="1"/>
              <a:t>ntrinsic Instability</a:t>
            </a:r>
            <a:r>
              <a:rPr lang="zh-CN" altLang="en-US" sz="1600" b="1"/>
              <a:t>：</a:t>
            </a:r>
            <a:endParaRPr lang="zh-CN" altLang="en-US" sz="1600" b="1"/>
          </a:p>
          <a:p>
            <a:pPr marL="171450" indent="-171450" algn="l" fontAlgn="auto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ym typeface="+mn-ea"/>
              </a:rPr>
              <a:t>L</a:t>
            </a:r>
            <a:r>
              <a:rPr lang="en-US" altLang="zh-CN" sz="1200" b="1">
                <a:sym typeface="+mn-ea"/>
              </a:rPr>
              <a:t>attice Instability</a:t>
            </a:r>
            <a:r>
              <a:rPr lang="en-US" sz="1200" b="1">
                <a:sym typeface="+mn-ea"/>
              </a:rPr>
              <a:t>:</a:t>
            </a:r>
            <a:endParaRPr lang="en-US" sz="1200" b="1"/>
          </a:p>
          <a:p>
            <a:pPr marL="179705" indent="0" algn="l" fontAlgn="auto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200">
                <a:sym typeface="+mn-ea"/>
              </a:rPr>
              <a:t>Lattice expansion and distortion induced by external stimuli (heat/light) cause internal strain and bandgap drift.</a:t>
            </a:r>
            <a:r>
              <a:rPr lang="en-US" sz="1200">
                <a:sym typeface="+mn-ea"/>
              </a:rPr>
              <a:t> </a:t>
            </a:r>
            <a:endParaRPr lang="en-US" altLang="zh-CN" sz="1200"/>
          </a:p>
          <a:p>
            <a:pPr marL="171450" indent="-171450" algn="l" fontAlgn="auto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ym typeface="+mn-ea"/>
              </a:rPr>
              <a:t>Ion Migration</a:t>
            </a:r>
            <a:r>
              <a:rPr lang="en-US" altLang="en-US" sz="1200" b="1">
                <a:sym typeface="+mn-ea"/>
              </a:rPr>
              <a:t>:</a:t>
            </a:r>
            <a:endParaRPr lang="en-US" altLang="en-US" sz="1200" b="1"/>
          </a:p>
          <a:p>
            <a:pPr marL="179705" indent="0" algn="l" fontAlgn="auto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200">
                <a:sym typeface="+mn-ea"/>
              </a:rPr>
              <a:t>"Soft" ionic lattice allows halide ions to migrate via vacancies, accelerated by temperature.</a:t>
            </a:r>
            <a:endParaRPr lang="en-US" altLang="zh-CN" sz="1200"/>
          </a:p>
          <a:p>
            <a:pPr marL="171450" indent="-171450" algn="l" fontAlgn="auto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ym typeface="+mn-ea"/>
              </a:rPr>
              <a:t>Phase Segregation(WBG):</a:t>
            </a:r>
            <a:endParaRPr lang="en-US" altLang="zh-CN" sz="1200" b="1"/>
          </a:p>
          <a:p>
            <a:pPr marL="179705" indent="0" algn="l" fontAlgn="auto">
              <a:lnSpc>
                <a:spcPct val="11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200">
                <a:sym typeface="+mn-ea"/>
              </a:rPr>
              <a:t>Light-induced separation of mixed halides (I/Br) creates low-bandgap trap states, causing voltage loss.</a:t>
            </a:r>
            <a:endParaRPr lang="en-US" altLang="zh-CN" sz="1200"/>
          </a:p>
          <a:p>
            <a:pPr indent="0" algn="l" fontAlgn="auto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en-US" altLang="zh-CN" sz="1200"/>
          </a:p>
        </p:txBody>
      </p:sp>
      <p:sp>
        <p:nvSpPr>
          <p:cNvPr id="136" name="矩形 135"/>
          <p:cNvSpPr/>
          <p:nvPr/>
        </p:nvSpPr>
        <p:spPr>
          <a:xfrm>
            <a:off x="9505315" y="3398520"/>
            <a:ext cx="237490" cy="3228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mongolianVert" rtlCol="0" anchor="ctr"/>
          <a:p>
            <a:pPr algn="ctr"/>
            <a:r>
              <a:rPr lang="en-US" altLang="zh-CN" sz="1600" b="1"/>
              <a:t>Current Scientific Gaps</a:t>
            </a:r>
            <a:endParaRPr lang="en-US" altLang="zh-CN" sz="1600" b="1"/>
          </a:p>
        </p:txBody>
      </p:sp>
      <p:sp>
        <p:nvSpPr>
          <p:cNvPr id="137" name="矩形 136"/>
          <p:cNvSpPr/>
          <p:nvPr/>
        </p:nvSpPr>
        <p:spPr>
          <a:xfrm>
            <a:off x="113665" y="769620"/>
            <a:ext cx="314325" cy="247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矩形 137"/>
          <p:cNvSpPr/>
          <p:nvPr/>
        </p:nvSpPr>
        <p:spPr>
          <a:xfrm>
            <a:off x="20955" y="3893185"/>
            <a:ext cx="238125" cy="247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9" name="矩形 138"/>
          <p:cNvSpPr/>
          <p:nvPr/>
        </p:nvSpPr>
        <p:spPr>
          <a:xfrm>
            <a:off x="33655" y="5071110"/>
            <a:ext cx="238125" cy="247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0" name="矩形 139"/>
          <p:cNvSpPr/>
          <p:nvPr/>
        </p:nvSpPr>
        <p:spPr>
          <a:xfrm>
            <a:off x="1113155" y="5160010"/>
            <a:ext cx="238125" cy="247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135890" y="815340"/>
            <a:ext cx="4267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（</a:t>
            </a:r>
            <a:r>
              <a:rPr lang="en-US" altLang="zh-CN" sz="1000" b="1"/>
              <a:t>a</a:t>
            </a:r>
            <a:r>
              <a:rPr lang="zh-CN" altLang="en-US" sz="1000" b="1"/>
              <a:t>）</a:t>
            </a:r>
            <a:endParaRPr lang="zh-CN" altLang="en-US" sz="1000" b="1"/>
          </a:p>
        </p:txBody>
      </p:sp>
      <p:sp>
        <p:nvSpPr>
          <p:cNvPr id="142" name="文本框 141"/>
          <p:cNvSpPr txBox="1"/>
          <p:nvPr/>
        </p:nvSpPr>
        <p:spPr>
          <a:xfrm>
            <a:off x="5715" y="3814445"/>
            <a:ext cx="4267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（</a:t>
            </a:r>
            <a:r>
              <a:rPr lang="en-US" altLang="zh-CN" sz="1000" b="1"/>
              <a:t>b</a:t>
            </a:r>
            <a:r>
              <a:rPr lang="zh-CN" altLang="en-US" sz="1000" b="1"/>
              <a:t>）</a:t>
            </a:r>
            <a:endParaRPr lang="zh-CN" altLang="en-US" sz="1000" b="1"/>
          </a:p>
        </p:txBody>
      </p:sp>
      <p:sp>
        <p:nvSpPr>
          <p:cNvPr id="143" name="文本框 142"/>
          <p:cNvSpPr txBox="1"/>
          <p:nvPr/>
        </p:nvSpPr>
        <p:spPr>
          <a:xfrm>
            <a:off x="-635" y="5073650"/>
            <a:ext cx="4267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（</a:t>
            </a:r>
            <a:r>
              <a:rPr lang="en-US" altLang="zh-CN" sz="1000" b="1"/>
              <a:t>c</a:t>
            </a:r>
            <a:r>
              <a:rPr lang="zh-CN" altLang="en-US" sz="1000" b="1"/>
              <a:t>）</a:t>
            </a:r>
            <a:endParaRPr lang="zh-CN" altLang="en-US" sz="1000" b="1"/>
          </a:p>
        </p:txBody>
      </p:sp>
      <p:sp>
        <p:nvSpPr>
          <p:cNvPr id="144" name="文本框 143"/>
          <p:cNvSpPr txBox="1"/>
          <p:nvPr/>
        </p:nvSpPr>
        <p:spPr>
          <a:xfrm>
            <a:off x="1027430" y="5073650"/>
            <a:ext cx="4267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（</a:t>
            </a:r>
            <a:r>
              <a:rPr lang="en-US" altLang="zh-CN" sz="1000" b="1"/>
              <a:t>d</a:t>
            </a:r>
            <a:r>
              <a:rPr lang="zh-CN" altLang="en-US" sz="1000" b="1"/>
              <a:t>）</a:t>
            </a:r>
            <a:endParaRPr lang="zh-CN" altLang="en-US" sz="1000" b="1"/>
          </a:p>
        </p:txBody>
      </p:sp>
      <p:sp>
        <p:nvSpPr>
          <p:cNvPr id="145" name="文本框 144"/>
          <p:cNvSpPr txBox="1"/>
          <p:nvPr/>
        </p:nvSpPr>
        <p:spPr>
          <a:xfrm>
            <a:off x="9729470" y="3442335"/>
            <a:ext cx="2526665" cy="3140710"/>
          </a:xfrm>
          <a:prstGeom prst="rect">
            <a:avLst/>
          </a:prstGeom>
        </p:spPr>
        <p:txBody>
          <a:bodyPr wrap="square">
            <a:noAutofit/>
          </a:bodyPr>
          <a:p>
            <a:pPr marL="171450" indent="-171450" algn="l" fontAlgn="auto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200" b="1"/>
              <a:t>Theoretical Gap:</a:t>
            </a:r>
            <a:r>
              <a:rPr lang="en-US" altLang="zh-CN" sz="1200"/>
              <a:t> </a:t>
            </a:r>
            <a:endParaRPr lang="en-US" altLang="zh-CN" sz="1200"/>
          </a:p>
          <a:p>
            <a:pPr marL="179705" indent="0" algn="l" fontAlgn="auto">
              <a:lnSpc>
                <a:spcPct val="120000"/>
              </a:lnSpc>
              <a:spcAft>
                <a:spcPts val="1800"/>
              </a:spcAft>
            </a:pPr>
            <a:r>
              <a:rPr lang="en-US" altLang="zh-CN" sz="1200"/>
              <a:t>Unclear Distortion-Degradation Link. </a:t>
            </a:r>
            <a:endParaRPr lang="en-US" altLang="zh-CN" sz="1200"/>
          </a:p>
          <a:p>
            <a:pPr indent="-171450" algn="l" fontAlgn="auto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200" b="1"/>
              <a:t>Physical Evidence Gap</a:t>
            </a:r>
            <a:r>
              <a:rPr lang="en-US" altLang="zh-CN" sz="1200"/>
              <a:t>:</a:t>
            </a:r>
            <a:endParaRPr lang="en-US" altLang="zh-CN" sz="1200"/>
          </a:p>
          <a:p>
            <a:pPr marL="179705" indent="0" algn="l" fontAlgn="auto">
              <a:lnSpc>
                <a:spcPct val="120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altLang="zh-CN" sz="1200"/>
              <a:t>Missing Dynamic In-situ Proof. Lack of real-time observation.</a:t>
            </a:r>
            <a:endParaRPr lang="en-US" altLang="zh-CN" sz="1200"/>
          </a:p>
          <a:p>
            <a:pPr indent="-171450" algn="l" fontAlgn="auto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200" b="1"/>
              <a:t>Methodological Gap:</a:t>
            </a:r>
            <a:endParaRPr lang="en-US" altLang="zh-CN" sz="1200" b="1"/>
          </a:p>
          <a:p>
            <a:pPr marL="179705" indent="0" algn="l" fontAlgn="auto"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zh-CN" sz="1200"/>
              <a:t>No "Zero-Drift" Protocol. Lacking design strategies to balance static/dynamic distortions for stable, zero-drift WBG perovskites.</a:t>
            </a:r>
            <a:endParaRPr lang="en-US" altLang="zh-CN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4043</Words>
  <Application>WPS 演示</Application>
  <PresentationFormat>宽屏</PresentationFormat>
  <Paragraphs>136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Times New Roman</vt:lpstr>
      <vt:lpstr>ＭＳ 明朝</vt:lpstr>
      <vt:lpstr>Calibri</vt:lpstr>
      <vt:lpstr>Microsoft YaHei</vt:lpstr>
      <vt:lpstr>Arial Unicode MS</vt:lpstr>
      <vt:lpstr>ＭＳ Ｐゴシック</vt:lpstr>
      <vt:lpstr>Cambria Math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Jones lwy</cp:lastModifiedBy>
  <cp:revision>6</cp:revision>
  <dcterms:created xsi:type="dcterms:W3CDTF">2023-08-09T12:44:00Z</dcterms:created>
  <dcterms:modified xsi:type="dcterms:W3CDTF">2026-05-10T09:11:43Z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0DDEA31E1A12458D86AF19F678B526B5_13</vt:lpwstr>
  </property>
</Properties>
</file>